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66" r:id="rId4"/>
    <p:sldId id="270" r:id="rId5"/>
    <p:sldId id="264" r:id="rId6"/>
    <p:sldId id="271" r:id="rId7"/>
    <p:sldId id="26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42D0B"/>
    <a:srgbClr val="76280B"/>
    <a:srgbClr val="F6BF73"/>
    <a:srgbClr val="F9D4A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25E5076-3810-47DD-B79F-674D7AD40C0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655" autoAdjust="0"/>
  </p:normalViewPr>
  <p:slideViewPr>
    <p:cSldViewPr snapToGrid="0">
      <p:cViewPr varScale="1">
        <p:scale>
          <a:sx n="101" d="100"/>
          <a:sy n="101" d="100"/>
        </p:scale>
        <p:origin x="99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805758-D2E5-47F1-BDC8-64F96AB837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A4D7A7-60FE-4B51-8D3B-098FB2A1B3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12/13/2024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48030B-DA71-4B18-AA7C-F991BCB51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D65FCA-070F-4A6D-A2E0-D5EBEAABC9C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64D2B8-7AFA-4F86-9DF3-A6BBE4E23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34828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12/13/2024</a:t>
            </a:r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D79418-37EB-4378-AD22-89DBB000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64242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Notes to presenter: </a:t>
            </a:r>
          </a:p>
          <a:p>
            <a:r>
              <a:rPr lang="en-US" i="1" dirty="0"/>
              <a:t>What is your purpose for sharing this reflection</a:t>
            </a:r>
            <a:r>
              <a:rPr lang="en-US" i="1" baseline="0" dirty="0"/>
              <a:t>?</a:t>
            </a:r>
          </a:p>
          <a:p>
            <a:r>
              <a:rPr lang="en-US" i="1" baseline="0" dirty="0"/>
              <a:t>Is it at the end of a unit or project?  </a:t>
            </a:r>
          </a:p>
          <a:p>
            <a:r>
              <a:rPr lang="en-US" i="1" baseline="0" dirty="0"/>
              <a:t>Are you sharing this reflection, at the attainment of a learning goal you set for yourself?  </a:t>
            </a:r>
          </a:p>
          <a:p>
            <a:r>
              <a:rPr lang="en-US" i="1" baseline="0" dirty="0"/>
              <a:t>Is it at the end of a course?  </a:t>
            </a:r>
          </a:p>
          <a:p>
            <a:endParaRPr lang="en-US" baseline="0" dirty="0"/>
          </a:p>
          <a:p>
            <a:r>
              <a:rPr lang="en-US" baseline="0" dirty="0"/>
              <a:t>State your purpose for the reflection or even the purpose of the learning experience or learning goal.  Be clear and be specific in stating your purpose.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AE4BF-4493-3A91-E6DC-24BC25E8351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12/13/2024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734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Description of what you learned in your own words on one side.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Include information about the topic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Details about the topic will also be helpful here.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Tell the story of your learning experience.  Just like a story there should always be a beginning, middle and an end.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On the other side, you can add a graphic that provides evidence of what you learned.</a:t>
            </a:r>
          </a:p>
          <a:p>
            <a:endParaRPr lang="en-US" dirty="0"/>
          </a:p>
          <a:p>
            <a:r>
              <a:rPr lang="en-US" dirty="0"/>
              <a:t>Feel free to use more than one slide to reflect upon your process.  It also helps to add some video of your process.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3A677-1321-CBB1-3C27-3CE5A20DECB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12/13/2024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91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664E4-A2AE-E090-16A2-D64C0D7E322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12/13/2024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571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D826893-9059-400D-A708-615823828BC9}"/>
              </a:ext>
            </a:extLst>
          </p:cNvPr>
          <p:cNvGrpSpPr/>
          <p:nvPr userDrawn="1"/>
        </p:nvGrpSpPr>
        <p:grpSpPr bwMode="ltGray">
          <a:xfrm>
            <a:off x="7232499" y="-159283"/>
            <a:ext cx="4959501" cy="5525761"/>
            <a:chOff x="7232499" y="-159283"/>
            <a:chExt cx="4959501" cy="5525761"/>
          </a:xfrm>
          <a:solidFill>
            <a:srgbClr val="76280B">
              <a:alpha val="60000"/>
            </a:srgbClr>
          </a:solidFill>
        </p:grpSpPr>
        <p:pic>
          <p:nvPicPr>
            <p:cNvPr id="10" name="Graphic 9" descr="Single gear">
              <a:extLst>
                <a:ext uri="{FF2B5EF4-FFF2-40B4-BE49-F238E27FC236}">
                  <a16:creationId xmlns:a16="http://schemas.microsoft.com/office/drawing/2014/main" id="{4BD7AE3B-6321-488C-8378-B441F7AC62C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11" name="Graphic 10" descr="Single gear">
              <a:extLst>
                <a:ext uri="{FF2B5EF4-FFF2-40B4-BE49-F238E27FC236}">
                  <a16:creationId xmlns:a16="http://schemas.microsoft.com/office/drawing/2014/main" id="{52566813-48BF-44A8-9FBD-C9035FDE14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:a16="http://schemas.microsoft.com/office/drawing/2014/main" id="{C9098912-FEFB-4951-B070-7ED0F1D455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486478"/>
              <a:ext cx="2880000" cy="2880000"/>
            </a:xfrm>
            <a:prstGeom prst="rect">
              <a:avLst/>
            </a:prstGeom>
          </p:spPr>
        </p:pic>
        <p:pic>
          <p:nvPicPr>
            <p:cNvPr id="15" name="Graphic 14" descr="Single gear">
              <a:extLst>
                <a:ext uri="{FF2B5EF4-FFF2-40B4-BE49-F238E27FC236}">
                  <a16:creationId xmlns:a16="http://schemas.microsoft.com/office/drawing/2014/main" id="{7187CCFC-946C-4708-98C2-CC97857A51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sp>
        <p:nvSpPr>
          <p:cNvPr id="9" name="Rectangle 8"/>
          <p:cNvSpPr/>
          <p:nvPr/>
        </p:nvSpPr>
        <p:spPr bwMode="ltGray">
          <a:xfrm>
            <a:off x="1704975" y="2598834"/>
            <a:ext cx="8782050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293" y="2742465"/>
            <a:ext cx="8494463" cy="1373070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99" y="4394039"/>
            <a:ext cx="8493957" cy="11176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12956" y="5936187"/>
            <a:ext cx="2743200" cy="365125"/>
          </a:xfrm>
        </p:spPr>
        <p:txBody>
          <a:bodyPr/>
          <a:lstStyle/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42296" y="5936188"/>
            <a:ext cx="6870660" cy="3651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A59AF3-34E3-4F2D-B219-533C8164A410}"/>
              </a:ext>
            </a:extLst>
          </p:cNvPr>
          <p:cNvSpPr/>
          <p:nvPr userDrawn="1"/>
        </p:nvSpPr>
        <p:spPr>
          <a:xfrm>
            <a:off x="0" y="2590078"/>
            <a:ext cx="1602997" cy="1660332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98DDA9-3997-4600-985C-44C2CABD0BA3}"/>
              </a:ext>
            </a:extLst>
          </p:cNvPr>
          <p:cNvSpPr/>
          <p:nvPr userDrawn="1"/>
        </p:nvSpPr>
        <p:spPr>
          <a:xfrm>
            <a:off x="10606797" y="2590077"/>
            <a:ext cx="1602997" cy="1660331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03518" y="2750779"/>
            <a:ext cx="1171888" cy="1356442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88968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Multip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E106B9E-EBA8-4369-8705-FDBBA60DC7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60549" y="2101850"/>
            <a:ext cx="4433401" cy="823913"/>
          </a:xfrm>
        </p:spPr>
        <p:txBody>
          <a:bodyPr anchor="ctr" anchorCtr="0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0D0165-A38B-4CE8-AE4D-186DBC04F8D4}"/>
              </a:ext>
            </a:extLst>
          </p:cNvPr>
          <p:cNvGrpSpPr/>
          <p:nvPr userDrawn="1"/>
        </p:nvGrpSpPr>
        <p:grpSpPr bwMode="ltGray">
          <a:xfrm rot="5400000">
            <a:off x="7251814" y="1766245"/>
            <a:ext cx="4959501" cy="5224009"/>
            <a:chOff x="7232499" y="-159283"/>
            <a:chExt cx="4959501" cy="5224009"/>
          </a:xfrm>
          <a:solidFill>
            <a:srgbClr val="76280B">
              <a:alpha val="60000"/>
            </a:srgbClr>
          </a:solidFill>
        </p:grpSpPr>
        <p:pic>
          <p:nvPicPr>
            <p:cNvPr id="12" name="Graphic 11" descr="Single gear">
              <a:extLst>
                <a:ext uri="{FF2B5EF4-FFF2-40B4-BE49-F238E27FC236}">
                  <a16:creationId xmlns:a16="http://schemas.microsoft.com/office/drawing/2014/main" id="{90C052C9-F1E0-4264-8CAC-31B0B8F76D6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13" name="Graphic 12" descr="Single gear">
              <a:extLst>
                <a:ext uri="{FF2B5EF4-FFF2-40B4-BE49-F238E27FC236}">
                  <a16:creationId xmlns:a16="http://schemas.microsoft.com/office/drawing/2014/main" id="{892FFF3D-7B2E-44EB-83BA-5453FEC489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:a16="http://schemas.microsoft.com/office/drawing/2014/main" id="{CC5A9AF4-A787-49A3-83CF-889F9AEE0D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184726"/>
              <a:ext cx="2880000" cy="2880000"/>
            </a:xfrm>
            <a:prstGeom prst="rect">
              <a:avLst/>
            </a:prstGeom>
          </p:spPr>
        </p:pic>
        <p:pic>
          <p:nvPicPr>
            <p:cNvPr id="19" name="Graphic 18" descr="Single gear">
              <a:extLst>
                <a:ext uri="{FF2B5EF4-FFF2-40B4-BE49-F238E27FC236}">
                  <a16:creationId xmlns:a16="http://schemas.microsoft.com/office/drawing/2014/main" id="{B5D192A5-6FE9-49BC-9104-102935BA03A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099E8F9-E092-4E4C-AB87-FB2B4EC4D0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60549" y="3044624"/>
            <a:ext cx="4433401" cy="823913"/>
          </a:xfrm>
        </p:spPr>
        <p:txBody>
          <a:bodyPr anchor="ctr" anchorCtr="0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82CF4FC-13E5-4A63-BCF2-3AF43B5F15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60549" y="3987398"/>
            <a:ext cx="4433401" cy="823913"/>
          </a:xfrm>
        </p:spPr>
        <p:txBody>
          <a:bodyPr anchor="ctr" anchorCtr="0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8523C4DE-E0C6-4EE1-9145-DA78191746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60549" y="4930171"/>
            <a:ext cx="4433401" cy="823913"/>
          </a:xfrm>
        </p:spPr>
        <p:txBody>
          <a:bodyPr anchor="ctr" anchorCtr="0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5263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E363D07-B7E9-4C17-BF5B-ADACCCAD7C6C}"/>
              </a:ext>
            </a:extLst>
          </p:cNvPr>
          <p:cNvGrpSpPr/>
          <p:nvPr userDrawn="1"/>
        </p:nvGrpSpPr>
        <p:grpSpPr>
          <a:xfrm rot="10800000">
            <a:off x="108452" y="75467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2" name="Graphic 11" descr="Single gear">
              <a:extLst>
                <a:ext uri="{FF2B5EF4-FFF2-40B4-BE49-F238E27FC236}">
                  <a16:creationId xmlns:a16="http://schemas.microsoft.com/office/drawing/2014/main" id="{BF7F7D52-1EF2-49FA-AE87-7BE7232893F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3" name="Graphic 12" descr="Single gear">
              <a:extLst>
                <a:ext uri="{FF2B5EF4-FFF2-40B4-BE49-F238E27FC236}">
                  <a16:creationId xmlns:a16="http://schemas.microsoft.com/office/drawing/2014/main" id="{ACC0D449-4064-40FD-A10D-BE7844EB87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:a16="http://schemas.microsoft.com/office/drawing/2014/main" id="{1FE621D1-1FD9-49E2-99C8-0CB37634CD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6" name="Graphic 15" descr="Single gear">
              <a:extLst>
                <a:ext uri="{FF2B5EF4-FFF2-40B4-BE49-F238E27FC236}">
                  <a16:creationId xmlns:a16="http://schemas.microsoft.com/office/drawing/2014/main" id="{0EA6856C-35D0-465E-B0CB-B889D4DA0B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7" name="Graphic 16" descr="Single gear">
              <a:extLst>
                <a:ext uri="{FF2B5EF4-FFF2-40B4-BE49-F238E27FC236}">
                  <a16:creationId xmlns:a16="http://schemas.microsoft.com/office/drawing/2014/main" id="{A493FB47-F1DA-40B8-A1F4-115CD1F708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0330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BF5BF6C-5F7D-464E-B42E-D194CF355A7E}"/>
              </a:ext>
            </a:extLst>
          </p:cNvPr>
          <p:cNvGrpSpPr/>
          <p:nvPr userDrawn="1"/>
        </p:nvGrpSpPr>
        <p:grpSpPr bwMode="ltGray">
          <a:xfrm rot="5400000">
            <a:off x="7096454" y="1615369"/>
            <a:ext cx="4959501" cy="5525761"/>
            <a:chOff x="7232499" y="-159283"/>
            <a:chExt cx="4959501" cy="5525761"/>
          </a:xfrm>
          <a:solidFill>
            <a:srgbClr val="76280B">
              <a:alpha val="60000"/>
            </a:srgbClr>
          </a:solidFill>
        </p:grpSpPr>
        <p:pic>
          <p:nvPicPr>
            <p:cNvPr id="13" name="Graphic 12" descr="Single gear">
              <a:extLst>
                <a:ext uri="{FF2B5EF4-FFF2-40B4-BE49-F238E27FC236}">
                  <a16:creationId xmlns:a16="http://schemas.microsoft.com/office/drawing/2014/main" id="{8F045C13-A0AE-4F21-8EE7-47DCE4B458F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:a16="http://schemas.microsoft.com/office/drawing/2014/main" id="{D5197B13-7446-4E28-A62C-4543D7BD63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15" name="Graphic 14" descr="Single gear">
              <a:extLst>
                <a:ext uri="{FF2B5EF4-FFF2-40B4-BE49-F238E27FC236}">
                  <a16:creationId xmlns:a16="http://schemas.microsoft.com/office/drawing/2014/main" id="{4B5B975A-536D-4192-B3DE-875F5E141A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486478"/>
              <a:ext cx="2880000" cy="2880000"/>
            </a:xfrm>
            <a:prstGeom prst="rect">
              <a:avLst/>
            </a:prstGeom>
          </p:spPr>
        </p:pic>
        <p:pic>
          <p:nvPicPr>
            <p:cNvPr id="16" name="Graphic 15" descr="Single gear">
              <a:extLst>
                <a:ext uri="{FF2B5EF4-FFF2-40B4-BE49-F238E27FC236}">
                  <a16:creationId xmlns:a16="http://schemas.microsoft.com/office/drawing/2014/main" id="{5BB09BB4-511A-4714-92A7-D9CA09D1FD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62720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1281ABC-1821-4B63-88B5-74D2B13A11AF}"/>
              </a:ext>
            </a:extLst>
          </p:cNvPr>
          <p:cNvGrpSpPr/>
          <p:nvPr userDrawn="1"/>
        </p:nvGrpSpPr>
        <p:grpSpPr>
          <a:xfrm rot="5400000">
            <a:off x="175132" y="1273331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3" name="Graphic 12" descr="Single gear">
              <a:extLst>
                <a:ext uri="{FF2B5EF4-FFF2-40B4-BE49-F238E27FC236}">
                  <a16:creationId xmlns:a16="http://schemas.microsoft.com/office/drawing/2014/main" id="{0BD16937-7ADD-43BC-AFAD-ABA8E1E4D04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:a16="http://schemas.microsoft.com/office/drawing/2014/main" id="{A93E95CB-8B7F-4CE0-BD90-8078D78E5B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5" name="Graphic 14" descr="Single gear">
              <a:extLst>
                <a:ext uri="{FF2B5EF4-FFF2-40B4-BE49-F238E27FC236}">
                  <a16:creationId xmlns:a16="http://schemas.microsoft.com/office/drawing/2014/main" id="{308EA72E-9FD8-4137-AF70-2F45B4623A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6" name="Graphic 15" descr="Single gear">
              <a:extLst>
                <a:ext uri="{FF2B5EF4-FFF2-40B4-BE49-F238E27FC236}">
                  <a16:creationId xmlns:a16="http://schemas.microsoft.com/office/drawing/2014/main" id="{7E5F03E5-E60E-40E5-996F-CE212FF642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7" name="Graphic 16" descr="Single gear">
              <a:extLst>
                <a:ext uri="{FF2B5EF4-FFF2-40B4-BE49-F238E27FC236}">
                  <a16:creationId xmlns:a16="http://schemas.microsoft.com/office/drawing/2014/main" id="{7EB0518D-8C62-493A-B053-F7B2F41290B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1" y="1970240"/>
            <a:ext cx="10437812" cy="3211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75260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3077" y="609600"/>
            <a:ext cx="1602997" cy="1368198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646" y="753228"/>
            <a:ext cx="9613861" cy="1080938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37645" y="2336873"/>
            <a:ext cx="4698358" cy="35993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51448" y="2336873"/>
            <a:ext cx="4700058" cy="3599316"/>
          </a:xfrm>
        </p:spPr>
        <p:txBody>
          <a:bodyPr anchor="ctr" anchorCtr="0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008306" y="5936187"/>
            <a:ext cx="2743200" cy="365125"/>
          </a:xfrm>
        </p:spPr>
        <p:txBody>
          <a:bodyPr/>
          <a:lstStyle/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37646" y="5936188"/>
            <a:ext cx="6870660" cy="3651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6705" y="753227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06977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F90C5C8C-B074-498F-921D-CC0B5DF8FBD3}"/>
              </a:ext>
            </a:extLst>
          </p:cNvPr>
          <p:cNvGrpSpPr/>
          <p:nvPr userDrawn="1"/>
        </p:nvGrpSpPr>
        <p:grpSpPr>
          <a:xfrm rot="10800000">
            <a:off x="108452" y="75467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5" name="Graphic 14" descr="Single gear">
              <a:extLst>
                <a:ext uri="{FF2B5EF4-FFF2-40B4-BE49-F238E27FC236}">
                  <a16:creationId xmlns:a16="http://schemas.microsoft.com/office/drawing/2014/main" id="{C270183A-92E0-49A5-B6BC-F1934676372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6" name="Graphic 15" descr="Single gear">
              <a:extLst>
                <a:ext uri="{FF2B5EF4-FFF2-40B4-BE49-F238E27FC236}">
                  <a16:creationId xmlns:a16="http://schemas.microsoft.com/office/drawing/2014/main" id="{6E086889-5472-4B65-A156-D0B8F369C3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7" name="Graphic 16" descr="Single gear">
              <a:extLst>
                <a:ext uri="{FF2B5EF4-FFF2-40B4-BE49-F238E27FC236}">
                  <a16:creationId xmlns:a16="http://schemas.microsoft.com/office/drawing/2014/main" id="{4BCBF44F-62C7-4F40-99DF-85C459F43ED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8" name="Graphic 17" descr="Single gear">
              <a:extLst>
                <a:ext uri="{FF2B5EF4-FFF2-40B4-BE49-F238E27FC236}">
                  <a16:creationId xmlns:a16="http://schemas.microsoft.com/office/drawing/2014/main" id="{ABF64D53-5ED0-4A1D-A7EA-94CDB0D37E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9" name="Graphic 18" descr="Single gear">
              <a:extLst>
                <a:ext uri="{FF2B5EF4-FFF2-40B4-BE49-F238E27FC236}">
                  <a16:creationId xmlns:a16="http://schemas.microsoft.com/office/drawing/2014/main" id="{2565C769-10BF-4E7B-B099-B4FD458436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0" y="2336873"/>
            <a:ext cx="4698358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94123" y="2336873"/>
            <a:ext cx="4700059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27138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1281ABC-1821-4B63-88B5-74D2B13A11AF}"/>
              </a:ext>
            </a:extLst>
          </p:cNvPr>
          <p:cNvGrpSpPr/>
          <p:nvPr userDrawn="1"/>
        </p:nvGrpSpPr>
        <p:grpSpPr>
          <a:xfrm rot="5400000">
            <a:off x="175132" y="1273331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3" name="Graphic 12" descr="Single gear">
              <a:extLst>
                <a:ext uri="{FF2B5EF4-FFF2-40B4-BE49-F238E27FC236}">
                  <a16:creationId xmlns:a16="http://schemas.microsoft.com/office/drawing/2014/main" id="{0BD16937-7ADD-43BC-AFAD-ABA8E1E4D04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:a16="http://schemas.microsoft.com/office/drawing/2014/main" id="{A93E95CB-8B7F-4CE0-BD90-8078D78E5B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5" name="Graphic 14" descr="Single gear">
              <a:extLst>
                <a:ext uri="{FF2B5EF4-FFF2-40B4-BE49-F238E27FC236}">
                  <a16:creationId xmlns:a16="http://schemas.microsoft.com/office/drawing/2014/main" id="{308EA72E-9FD8-4137-AF70-2F45B4623A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6" name="Graphic 15" descr="Single gear">
              <a:extLst>
                <a:ext uri="{FF2B5EF4-FFF2-40B4-BE49-F238E27FC236}">
                  <a16:creationId xmlns:a16="http://schemas.microsoft.com/office/drawing/2014/main" id="{7E5F03E5-E60E-40E5-996F-CE212FF642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7" name="Graphic 16" descr="Single gear">
              <a:extLst>
                <a:ext uri="{FF2B5EF4-FFF2-40B4-BE49-F238E27FC236}">
                  <a16:creationId xmlns:a16="http://schemas.microsoft.com/office/drawing/2014/main" id="{7EB0518D-8C62-493A-B053-F7B2F41290B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1" y="1970240"/>
            <a:ext cx="10437812" cy="3211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75260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3077" y="609600"/>
            <a:ext cx="1602997" cy="1368198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646" y="753228"/>
            <a:ext cx="9613861" cy="1080938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008306" y="5936187"/>
            <a:ext cx="2743200" cy="365125"/>
          </a:xfrm>
        </p:spPr>
        <p:txBody>
          <a:bodyPr/>
          <a:lstStyle/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37646" y="5936188"/>
            <a:ext cx="6870660" cy="3651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6705" y="753227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D7CD5CF-F924-43C6-9C02-06FBC84A6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7644" y="2161725"/>
            <a:ext cx="9613861" cy="370264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3184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CA97C9F-27FA-4BCE-84C2-EA9C0347E974}"/>
              </a:ext>
            </a:extLst>
          </p:cNvPr>
          <p:cNvGrpSpPr/>
          <p:nvPr userDrawn="1"/>
        </p:nvGrpSpPr>
        <p:grpSpPr>
          <a:xfrm rot="5400000">
            <a:off x="227324" y="1282732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1" name="Graphic 10" descr="Single gear">
              <a:extLst>
                <a:ext uri="{FF2B5EF4-FFF2-40B4-BE49-F238E27FC236}">
                  <a16:creationId xmlns:a16="http://schemas.microsoft.com/office/drawing/2014/main" id="{6EEB6AF8-1385-4805-8E97-CDE431030B0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2" name="Graphic 11" descr="Single gear">
              <a:extLst>
                <a:ext uri="{FF2B5EF4-FFF2-40B4-BE49-F238E27FC236}">
                  <a16:creationId xmlns:a16="http://schemas.microsoft.com/office/drawing/2014/main" id="{1F08FE59-AC1A-4BF7-B9D5-7672C8C7D3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3" name="Graphic 12" descr="Single gear">
              <a:extLst>
                <a:ext uri="{FF2B5EF4-FFF2-40B4-BE49-F238E27FC236}">
                  <a16:creationId xmlns:a16="http://schemas.microsoft.com/office/drawing/2014/main" id="{F44470E0-8B01-46E6-90F1-4B52CB3EFF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:a16="http://schemas.microsoft.com/office/drawing/2014/main" id="{2FB2E216-0387-4DF4-A432-E877C96A7B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5" name="Graphic 14" descr="Single gear">
              <a:extLst>
                <a:ext uri="{FF2B5EF4-FFF2-40B4-BE49-F238E27FC236}">
                  <a16:creationId xmlns:a16="http://schemas.microsoft.com/office/drawing/2014/main" id="{53685AA4-853C-46A8-8ADB-FA80FE59BF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99344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CA97C9F-27FA-4BCE-84C2-EA9C0347E974}"/>
              </a:ext>
            </a:extLst>
          </p:cNvPr>
          <p:cNvGrpSpPr/>
          <p:nvPr userDrawn="1"/>
        </p:nvGrpSpPr>
        <p:grpSpPr>
          <a:xfrm rot="5400000">
            <a:off x="227324" y="1282732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1" name="Graphic 10" descr="Single gear">
              <a:extLst>
                <a:ext uri="{FF2B5EF4-FFF2-40B4-BE49-F238E27FC236}">
                  <a16:creationId xmlns:a16="http://schemas.microsoft.com/office/drawing/2014/main" id="{6EEB6AF8-1385-4805-8E97-CDE431030B0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2" name="Graphic 11" descr="Single gear">
              <a:extLst>
                <a:ext uri="{FF2B5EF4-FFF2-40B4-BE49-F238E27FC236}">
                  <a16:creationId xmlns:a16="http://schemas.microsoft.com/office/drawing/2014/main" id="{1F08FE59-AC1A-4BF7-B9D5-7672C8C7D3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3" name="Graphic 12" descr="Single gear">
              <a:extLst>
                <a:ext uri="{FF2B5EF4-FFF2-40B4-BE49-F238E27FC236}">
                  <a16:creationId xmlns:a16="http://schemas.microsoft.com/office/drawing/2014/main" id="{F44470E0-8B01-46E6-90F1-4B52CB3EFF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:a16="http://schemas.microsoft.com/office/drawing/2014/main" id="{2FB2E216-0387-4DF4-A432-E877C96A7B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5" name="Graphic 14" descr="Single gear">
              <a:extLst>
                <a:ext uri="{FF2B5EF4-FFF2-40B4-BE49-F238E27FC236}">
                  <a16:creationId xmlns:a16="http://schemas.microsoft.com/office/drawing/2014/main" id="{53685AA4-853C-46A8-8ADB-FA80FE59BF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683A405-3ADE-448E-893F-D3D2E11CCA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97819" y="2290763"/>
            <a:ext cx="8396362" cy="31003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2027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C2D2AED-B2EF-46D8-BC7C-81AE25C80786}"/>
              </a:ext>
            </a:extLst>
          </p:cNvPr>
          <p:cNvGrpSpPr/>
          <p:nvPr userDrawn="1"/>
        </p:nvGrpSpPr>
        <p:grpSpPr bwMode="ltGray">
          <a:xfrm>
            <a:off x="7232499" y="-159283"/>
            <a:ext cx="4959501" cy="5224009"/>
            <a:chOff x="7232499" y="-159283"/>
            <a:chExt cx="4959501" cy="5224009"/>
          </a:xfrm>
          <a:solidFill>
            <a:srgbClr val="76280B">
              <a:alpha val="60000"/>
            </a:srgbClr>
          </a:solidFill>
        </p:grpSpPr>
        <p:pic>
          <p:nvPicPr>
            <p:cNvPr id="8" name="Graphic 7" descr="Single gear">
              <a:extLst>
                <a:ext uri="{FF2B5EF4-FFF2-40B4-BE49-F238E27FC236}">
                  <a16:creationId xmlns:a16="http://schemas.microsoft.com/office/drawing/2014/main" id="{2F9289FC-9317-4EC5-8064-00D34185019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9" name="Graphic 8" descr="Single gear">
              <a:extLst>
                <a:ext uri="{FF2B5EF4-FFF2-40B4-BE49-F238E27FC236}">
                  <a16:creationId xmlns:a16="http://schemas.microsoft.com/office/drawing/2014/main" id="{09784D29-4AB9-4581-A176-2BC2AD58F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10" name="Graphic 9" descr="Single gear">
              <a:extLst>
                <a:ext uri="{FF2B5EF4-FFF2-40B4-BE49-F238E27FC236}">
                  <a16:creationId xmlns:a16="http://schemas.microsoft.com/office/drawing/2014/main" id="{25EF2775-3EFB-4A64-8FAF-4D8B56AE07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184726"/>
              <a:ext cx="2880000" cy="2880000"/>
            </a:xfrm>
            <a:prstGeom prst="rect">
              <a:avLst/>
            </a:prstGeom>
          </p:spPr>
        </p:pic>
        <p:pic>
          <p:nvPicPr>
            <p:cNvPr id="11" name="Graphic 10" descr="Single gear">
              <a:extLst>
                <a:ext uri="{FF2B5EF4-FFF2-40B4-BE49-F238E27FC236}">
                  <a16:creationId xmlns:a16="http://schemas.microsoft.com/office/drawing/2014/main" id="{A34C11DA-4074-454D-800C-0FC5FBF1CD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5406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F6BBB30-80DB-4A1B-9DD3-A090C4EF2F33}"/>
              </a:ext>
            </a:extLst>
          </p:cNvPr>
          <p:cNvGrpSpPr/>
          <p:nvPr userDrawn="1"/>
        </p:nvGrpSpPr>
        <p:grpSpPr bwMode="ltGray">
          <a:xfrm rot="5400000">
            <a:off x="7251814" y="1766245"/>
            <a:ext cx="4959501" cy="5224009"/>
            <a:chOff x="7232499" y="-159283"/>
            <a:chExt cx="4959501" cy="5224009"/>
          </a:xfrm>
          <a:solidFill>
            <a:srgbClr val="76280B">
              <a:alpha val="60000"/>
            </a:srgbClr>
          </a:solidFill>
        </p:grpSpPr>
        <p:pic>
          <p:nvPicPr>
            <p:cNvPr id="18" name="Graphic 17" descr="Single gear">
              <a:extLst>
                <a:ext uri="{FF2B5EF4-FFF2-40B4-BE49-F238E27FC236}">
                  <a16:creationId xmlns:a16="http://schemas.microsoft.com/office/drawing/2014/main" id="{4FC3313D-A401-4847-ABED-CDF1803D067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19" name="Graphic 18" descr="Single gear">
              <a:extLst>
                <a:ext uri="{FF2B5EF4-FFF2-40B4-BE49-F238E27FC236}">
                  <a16:creationId xmlns:a16="http://schemas.microsoft.com/office/drawing/2014/main" id="{62BA598A-71EC-4BD4-8924-8F16E990AF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20" name="Graphic 19" descr="Single gear">
              <a:extLst>
                <a:ext uri="{FF2B5EF4-FFF2-40B4-BE49-F238E27FC236}">
                  <a16:creationId xmlns:a16="http://schemas.microsoft.com/office/drawing/2014/main" id="{2086399E-589B-48EE-B396-961A783106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184726"/>
              <a:ext cx="2880000" cy="2880000"/>
            </a:xfrm>
            <a:prstGeom prst="rect">
              <a:avLst/>
            </a:prstGeom>
          </p:spPr>
        </p:pic>
        <p:pic>
          <p:nvPicPr>
            <p:cNvPr id="21" name="Graphic 20" descr="Single gear">
              <a:extLst>
                <a:ext uri="{FF2B5EF4-FFF2-40B4-BE49-F238E27FC236}">
                  <a16:creationId xmlns:a16="http://schemas.microsoft.com/office/drawing/2014/main" id="{F2A039E4-F69C-4905-B047-6891B77F8C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1" y="1970240"/>
            <a:ext cx="10437812" cy="3211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75260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-3554" y="609600"/>
            <a:ext cx="1602997" cy="1368198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9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8446" y="2336873"/>
            <a:ext cx="5608336" cy="35993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29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03581" y="5936187"/>
            <a:ext cx="2743200" cy="365125"/>
          </a:xfrm>
        </p:spPr>
        <p:txBody>
          <a:bodyPr/>
          <a:lstStyle/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432921" y="5936188"/>
            <a:ext cx="6870660" cy="3651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0074" y="753227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207027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F6BBB30-80DB-4A1B-9DD3-A090C4EF2F33}"/>
              </a:ext>
            </a:extLst>
          </p:cNvPr>
          <p:cNvGrpSpPr/>
          <p:nvPr userDrawn="1"/>
        </p:nvGrpSpPr>
        <p:grpSpPr bwMode="ltGray">
          <a:xfrm rot="5400000">
            <a:off x="7251814" y="1766245"/>
            <a:ext cx="4959501" cy="5224009"/>
            <a:chOff x="7232499" y="-159283"/>
            <a:chExt cx="4959501" cy="5224009"/>
          </a:xfrm>
          <a:solidFill>
            <a:srgbClr val="76280B">
              <a:alpha val="60000"/>
            </a:srgbClr>
          </a:solidFill>
        </p:grpSpPr>
        <p:pic>
          <p:nvPicPr>
            <p:cNvPr id="18" name="Graphic 17" descr="Single gear">
              <a:extLst>
                <a:ext uri="{FF2B5EF4-FFF2-40B4-BE49-F238E27FC236}">
                  <a16:creationId xmlns:a16="http://schemas.microsoft.com/office/drawing/2014/main" id="{4FC3313D-A401-4847-ABED-CDF1803D067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19" name="Graphic 18" descr="Single gear">
              <a:extLst>
                <a:ext uri="{FF2B5EF4-FFF2-40B4-BE49-F238E27FC236}">
                  <a16:creationId xmlns:a16="http://schemas.microsoft.com/office/drawing/2014/main" id="{62BA598A-71EC-4BD4-8924-8F16E990AF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20" name="Graphic 19" descr="Single gear">
              <a:extLst>
                <a:ext uri="{FF2B5EF4-FFF2-40B4-BE49-F238E27FC236}">
                  <a16:creationId xmlns:a16="http://schemas.microsoft.com/office/drawing/2014/main" id="{2086399E-589B-48EE-B396-961A783106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184726"/>
              <a:ext cx="2880000" cy="2880000"/>
            </a:xfrm>
            <a:prstGeom prst="rect">
              <a:avLst/>
            </a:prstGeom>
          </p:spPr>
        </p:pic>
        <p:pic>
          <p:nvPicPr>
            <p:cNvPr id="21" name="Graphic 20" descr="Single gear">
              <a:extLst>
                <a:ext uri="{FF2B5EF4-FFF2-40B4-BE49-F238E27FC236}">
                  <a16:creationId xmlns:a16="http://schemas.microsoft.com/office/drawing/2014/main" id="{F2A039E4-F69C-4905-B047-6891B77F8C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1" y="1970240"/>
            <a:ext cx="10437812" cy="3211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75260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-3554" y="609600"/>
            <a:ext cx="1602997" cy="1368198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9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2922" y="2336872"/>
            <a:ext cx="2620817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03581" y="5936187"/>
            <a:ext cx="2743200" cy="365125"/>
          </a:xfrm>
        </p:spPr>
        <p:txBody>
          <a:bodyPr/>
          <a:lstStyle/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432921" y="5936188"/>
            <a:ext cx="6870660" cy="3651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0074" y="753227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5E59F855-D2A7-4662-804E-17B59CD1A4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13022" y="2327474"/>
            <a:ext cx="6833757" cy="36087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5739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1090482"/>
          </a:xfrm>
        </p:spPr>
        <p:txBody>
          <a:bodyPr anchor="ctr" anchorCtr="0">
            <a:normAutofit/>
          </a:bodyPr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3" name="SmartArt Placeholder 12">
            <a:extLst>
              <a:ext uri="{FF2B5EF4-FFF2-40B4-BE49-F238E27FC236}">
                <a16:creationId xmlns:a16="http://schemas.microsoft.com/office/drawing/2014/main" id="{DBD7FBFD-679C-4A5B-A176-220004B60453}"/>
              </a:ext>
            </a:extLst>
          </p:cNvPr>
          <p:cNvSpPr>
            <a:spLocks noGrp="1"/>
          </p:cNvSpPr>
          <p:nvPr>
            <p:ph type="dgm" sz="quarter" idx="13"/>
          </p:nvPr>
        </p:nvSpPr>
        <p:spPr>
          <a:xfrm>
            <a:off x="680321" y="386862"/>
            <a:ext cx="9614617" cy="3867638"/>
          </a:xfrm>
        </p:spPr>
        <p:txBody>
          <a:bodyPr/>
          <a:lstStyle/>
          <a:p>
            <a:r>
              <a:rPr lang="en-US" noProof="0"/>
              <a:t>Click icon to add SmartArt graphic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25996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2B243BA-55F2-42F1-B294-0EB708FCD888}"/>
              </a:ext>
            </a:extLst>
          </p:cNvPr>
          <p:cNvGrpSpPr/>
          <p:nvPr userDrawn="1"/>
        </p:nvGrpSpPr>
        <p:grpSpPr>
          <a:xfrm rot="10800000">
            <a:off x="108452" y="75467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3" name="Graphic 12" descr="Single gear">
              <a:extLst>
                <a:ext uri="{FF2B5EF4-FFF2-40B4-BE49-F238E27FC236}">
                  <a16:creationId xmlns:a16="http://schemas.microsoft.com/office/drawing/2014/main" id="{46408269-63CF-4017-AC0D-C35B044D307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:a16="http://schemas.microsoft.com/office/drawing/2014/main" id="{7A3695B4-ADE3-45A9-8119-67D5F83A8C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5" name="Graphic 14" descr="Single gear">
              <a:extLst>
                <a:ext uri="{FF2B5EF4-FFF2-40B4-BE49-F238E27FC236}">
                  <a16:creationId xmlns:a16="http://schemas.microsoft.com/office/drawing/2014/main" id="{6B8F0030-0551-4558-8533-64D2E4838D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6" name="Graphic 15" descr="Single gear">
              <a:extLst>
                <a:ext uri="{FF2B5EF4-FFF2-40B4-BE49-F238E27FC236}">
                  <a16:creationId xmlns:a16="http://schemas.microsoft.com/office/drawing/2014/main" id="{59607E3E-29E0-44E4-899A-0955FA4D36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7" name="Graphic 16" descr="Single gear">
              <a:extLst>
                <a:ext uri="{FF2B5EF4-FFF2-40B4-BE49-F238E27FC236}">
                  <a16:creationId xmlns:a16="http://schemas.microsoft.com/office/drawing/2014/main" id="{AD4251FC-462A-4B83-9F84-2358E52E31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140067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D7FCAB52-C8F0-4659-9B95-C792632631CE}"/>
              </a:ext>
            </a:extLst>
          </p:cNvPr>
          <p:cNvGrpSpPr/>
          <p:nvPr userDrawn="1"/>
        </p:nvGrpSpPr>
        <p:grpSpPr bwMode="ltGray">
          <a:xfrm rot="5400000">
            <a:off x="7251814" y="1766245"/>
            <a:ext cx="4959501" cy="5224009"/>
            <a:chOff x="7232499" y="-159283"/>
            <a:chExt cx="4959501" cy="5224009"/>
          </a:xfrm>
          <a:solidFill>
            <a:srgbClr val="76280B">
              <a:alpha val="60000"/>
            </a:srgbClr>
          </a:solidFill>
        </p:grpSpPr>
        <p:pic>
          <p:nvPicPr>
            <p:cNvPr id="19" name="Graphic 18" descr="Single gear">
              <a:extLst>
                <a:ext uri="{FF2B5EF4-FFF2-40B4-BE49-F238E27FC236}">
                  <a16:creationId xmlns:a16="http://schemas.microsoft.com/office/drawing/2014/main" id="{5E98770F-9E46-4F69-9A76-F671813AF57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20" name="Graphic 19" descr="Single gear">
              <a:extLst>
                <a:ext uri="{FF2B5EF4-FFF2-40B4-BE49-F238E27FC236}">
                  <a16:creationId xmlns:a16="http://schemas.microsoft.com/office/drawing/2014/main" id="{F08BF8CF-C3C2-4767-B88B-DE07E6A628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21" name="Graphic 20" descr="Single gear">
              <a:extLst>
                <a:ext uri="{FF2B5EF4-FFF2-40B4-BE49-F238E27FC236}">
                  <a16:creationId xmlns:a16="http://schemas.microsoft.com/office/drawing/2014/main" id="{E63AFEB7-4AAE-448E-8B0B-C2F2287771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184726"/>
              <a:ext cx="2880000" cy="2880000"/>
            </a:xfrm>
            <a:prstGeom prst="rect">
              <a:avLst/>
            </a:prstGeom>
          </p:spPr>
        </p:pic>
        <p:pic>
          <p:nvPicPr>
            <p:cNvPr id="22" name="Graphic 21" descr="Single gear">
              <a:extLst>
                <a:ext uri="{FF2B5EF4-FFF2-40B4-BE49-F238E27FC236}">
                  <a16:creationId xmlns:a16="http://schemas.microsoft.com/office/drawing/2014/main" id="{E279C731-1AAF-453A-94B0-6CC2920395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noProof="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noProof="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1322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B2BD5A-C0EC-4AC1-BBF1-851D8321B964}"/>
              </a:ext>
            </a:extLst>
          </p:cNvPr>
          <p:cNvGrpSpPr/>
          <p:nvPr userDrawn="1"/>
        </p:nvGrpSpPr>
        <p:grpSpPr>
          <a:xfrm rot="5400000">
            <a:off x="188826" y="1282475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3" name="Graphic 12" descr="Single gear">
              <a:extLst>
                <a:ext uri="{FF2B5EF4-FFF2-40B4-BE49-F238E27FC236}">
                  <a16:creationId xmlns:a16="http://schemas.microsoft.com/office/drawing/2014/main" id="{538A56DB-6938-460F-9BB3-A0A34C234B3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:a16="http://schemas.microsoft.com/office/drawing/2014/main" id="{E2A1D679-9D00-4DC7-82EC-B6C33270E7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5" name="Graphic 14" descr="Single gear">
              <a:extLst>
                <a:ext uri="{FF2B5EF4-FFF2-40B4-BE49-F238E27FC236}">
                  <a16:creationId xmlns:a16="http://schemas.microsoft.com/office/drawing/2014/main" id="{8DFB6E86-77FA-4731-B7FA-5A63254A3E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6" name="Graphic 15" descr="Single gear">
              <a:extLst>
                <a:ext uri="{FF2B5EF4-FFF2-40B4-BE49-F238E27FC236}">
                  <a16:creationId xmlns:a16="http://schemas.microsoft.com/office/drawing/2014/main" id="{982D40F0-DDB8-45E0-B9D1-5964842C73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7" name="Graphic 16" descr="Single gear">
              <a:extLst>
                <a:ext uri="{FF2B5EF4-FFF2-40B4-BE49-F238E27FC236}">
                  <a16:creationId xmlns:a16="http://schemas.microsoft.com/office/drawing/2014/main" id="{D744A42C-4948-489C-8EB2-12C65C47E90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189" y="5928628"/>
            <a:ext cx="10437812" cy="3211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754188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-4931" y="4556102"/>
            <a:ext cx="1602997" cy="1368198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7332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77333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047994" y="5936187"/>
            <a:ext cx="2743200" cy="365125"/>
          </a:xfrm>
        </p:spPr>
        <p:txBody>
          <a:bodyPr/>
          <a:lstStyle/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77334" y="5936188"/>
            <a:ext cx="6870660" cy="3651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8697" y="4698039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689363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BFC60FB4-27C2-4896-9B64-2DFE33815CE2}"/>
              </a:ext>
            </a:extLst>
          </p:cNvPr>
          <p:cNvGrpSpPr/>
          <p:nvPr userDrawn="1"/>
        </p:nvGrpSpPr>
        <p:grpSpPr bwMode="ltGray">
          <a:xfrm>
            <a:off x="7232499" y="-159283"/>
            <a:ext cx="4959501" cy="5224009"/>
            <a:chOff x="7232499" y="-159283"/>
            <a:chExt cx="4959501" cy="5224009"/>
          </a:xfrm>
          <a:solidFill>
            <a:srgbClr val="76280B">
              <a:alpha val="60000"/>
            </a:srgbClr>
          </a:solidFill>
        </p:grpSpPr>
        <p:pic>
          <p:nvPicPr>
            <p:cNvPr id="24" name="Graphic 23" descr="Single gear">
              <a:extLst>
                <a:ext uri="{FF2B5EF4-FFF2-40B4-BE49-F238E27FC236}">
                  <a16:creationId xmlns:a16="http://schemas.microsoft.com/office/drawing/2014/main" id="{EE89D477-BED5-4149-965A-0C122D97A01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25" name="Graphic 24" descr="Single gear">
              <a:extLst>
                <a:ext uri="{FF2B5EF4-FFF2-40B4-BE49-F238E27FC236}">
                  <a16:creationId xmlns:a16="http://schemas.microsoft.com/office/drawing/2014/main" id="{5CCE09A4-D09F-43A2-8459-2E9D3E9602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26" name="Graphic 25" descr="Single gear">
              <a:extLst>
                <a:ext uri="{FF2B5EF4-FFF2-40B4-BE49-F238E27FC236}">
                  <a16:creationId xmlns:a16="http://schemas.microsoft.com/office/drawing/2014/main" id="{9A46A1B3-2A0B-4FFE-AE15-A11187E434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184726"/>
              <a:ext cx="2880000" cy="2880000"/>
            </a:xfrm>
            <a:prstGeom prst="rect">
              <a:avLst/>
            </a:prstGeom>
          </p:spPr>
        </p:pic>
        <p:pic>
          <p:nvPicPr>
            <p:cNvPr id="27" name="Graphic 26" descr="Single gear">
              <a:extLst>
                <a:ext uri="{FF2B5EF4-FFF2-40B4-BE49-F238E27FC236}">
                  <a16:creationId xmlns:a16="http://schemas.microsoft.com/office/drawing/2014/main" id="{D4F4A02A-94BC-4984-A372-3B77FC854C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528377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D1F89FDF-9788-47AD-B230-0314E7C8D087}"/>
              </a:ext>
            </a:extLst>
          </p:cNvPr>
          <p:cNvGrpSpPr/>
          <p:nvPr userDrawn="1"/>
        </p:nvGrpSpPr>
        <p:grpSpPr>
          <a:xfrm rot="10800000">
            <a:off x="99308" y="75467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9" name="Graphic 18" descr="Single gear">
              <a:extLst>
                <a:ext uri="{FF2B5EF4-FFF2-40B4-BE49-F238E27FC236}">
                  <a16:creationId xmlns:a16="http://schemas.microsoft.com/office/drawing/2014/main" id="{9CD6B783-A97E-437E-B4E2-F7D761F0A2E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20" name="Graphic 19" descr="Single gear">
              <a:extLst>
                <a:ext uri="{FF2B5EF4-FFF2-40B4-BE49-F238E27FC236}">
                  <a16:creationId xmlns:a16="http://schemas.microsoft.com/office/drawing/2014/main" id="{4699BB72-0480-4165-8D15-316CEED8CE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21" name="Graphic 20" descr="Single gear">
              <a:extLst>
                <a:ext uri="{FF2B5EF4-FFF2-40B4-BE49-F238E27FC236}">
                  <a16:creationId xmlns:a16="http://schemas.microsoft.com/office/drawing/2014/main" id="{685C07D9-1911-4085-8555-C992A61B10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22" name="Graphic 21" descr="Single gear">
              <a:extLst>
                <a:ext uri="{FF2B5EF4-FFF2-40B4-BE49-F238E27FC236}">
                  <a16:creationId xmlns:a16="http://schemas.microsoft.com/office/drawing/2014/main" id="{D621B3C3-2371-4ED0-BC1D-87AABF852B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23" name="Graphic 22" descr="Single gear">
              <a:extLst>
                <a:ext uri="{FF2B5EF4-FFF2-40B4-BE49-F238E27FC236}">
                  <a16:creationId xmlns:a16="http://schemas.microsoft.com/office/drawing/2014/main" id="{D7D15287-50FE-4441-BA06-D454D73F7E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076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75260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3077" y="609600"/>
            <a:ext cx="1602997" cy="1368198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989256" y="5936187"/>
            <a:ext cx="2743200" cy="365125"/>
          </a:xfrm>
        </p:spPr>
        <p:txBody>
          <a:bodyPr/>
          <a:lstStyle/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18596" y="5936188"/>
            <a:ext cx="6870660" cy="3651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0493" y="748304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664D24B-EA78-4E18-9226-569365267E5E}"/>
              </a:ext>
            </a:extLst>
          </p:cNvPr>
          <p:cNvCxnSpPr/>
          <p:nvPr userDrawn="1"/>
        </p:nvCxnSpPr>
        <p:spPr>
          <a:xfrm>
            <a:off x="8571139" y="969699"/>
            <a:ext cx="0" cy="648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itle 1">
            <a:extLst>
              <a:ext uri="{FF2B5EF4-FFF2-40B4-BE49-F238E27FC236}">
                <a16:creationId xmlns:a16="http://schemas.microsoft.com/office/drawing/2014/main" id="{5BE17E03-04A7-46ED-8623-88DFFD7E30B0}"/>
              </a:ext>
            </a:extLst>
          </p:cNvPr>
          <p:cNvSpPr txBox="1">
            <a:spLocks/>
          </p:cNvSpPr>
          <p:nvPr userDrawn="1"/>
        </p:nvSpPr>
        <p:spPr>
          <a:xfrm>
            <a:off x="2106131" y="790252"/>
            <a:ext cx="3060802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400" noProof="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3840076-AFCB-4C84-8E23-85DAD3CBEF3E}"/>
              </a:ext>
            </a:extLst>
          </p:cNvPr>
          <p:cNvCxnSpPr/>
          <p:nvPr userDrawn="1"/>
        </p:nvCxnSpPr>
        <p:spPr>
          <a:xfrm>
            <a:off x="5294539" y="969699"/>
            <a:ext cx="0" cy="648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itle 50">
            <a:extLst>
              <a:ext uri="{FF2B5EF4-FFF2-40B4-BE49-F238E27FC236}">
                <a16:creationId xmlns:a16="http://schemas.microsoft.com/office/drawing/2014/main" id="{BBA20603-8433-4B38-976F-F18CF78D6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6132" y="735087"/>
            <a:ext cx="3060802" cy="1080938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F340F6C-3335-49B0-AE89-7103CA6A7F5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4611" y="735013"/>
            <a:ext cx="3060700" cy="1081087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3600">
                <a:latin typeface="+mj-lt"/>
              </a:defRPr>
            </a:lvl1pPr>
            <a:lvl2pPr>
              <a:defRPr sz="3600">
                <a:latin typeface="+mj-lt"/>
              </a:defRPr>
            </a:lvl2pPr>
            <a:lvl3pPr>
              <a:defRPr sz="3600">
                <a:latin typeface="+mj-lt"/>
              </a:defRPr>
            </a:lvl3pPr>
            <a:lvl4pPr>
              <a:defRPr sz="3600">
                <a:latin typeface="+mj-lt"/>
              </a:defRPr>
            </a:lvl4pPr>
            <a:lvl5pPr>
              <a:defRPr sz="3600">
                <a:latin typeface="+mj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1F0AD31D-2FFB-40A9-96C2-F4EE3869BC5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62988" y="746125"/>
            <a:ext cx="3070225" cy="105886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3600">
                <a:latin typeface="+mj-lt"/>
              </a:defRPr>
            </a:lvl1pPr>
            <a:lvl2pPr algn="ctr">
              <a:defRPr sz="3600">
                <a:latin typeface="+mj-lt"/>
              </a:defRPr>
            </a:lvl2pPr>
            <a:lvl3pPr algn="ctr">
              <a:defRPr sz="3600">
                <a:latin typeface="+mj-lt"/>
              </a:defRPr>
            </a:lvl3pPr>
            <a:lvl4pPr algn="ctr">
              <a:defRPr sz="3600">
                <a:latin typeface="+mj-lt"/>
              </a:defRPr>
            </a:lvl4pPr>
            <a:lvl5pPr algn="ctr">
              <a:defRPr sz="3600">
                <a:latin typeface="+mj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7" name="Content Placeholder 56">
            <a:extLst>
              <a:ext uri="{FF2B5EF4-FFF2-40B4-BE49-F238E27FC236}">
                <a16:creationId xmlns:a16="http://schemas.microsoft.com/office/drawing/2014/main" id="{52B689E9-5B4C-4CC0-AAA4-847EB66C330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106131" y="2116138"/>
            <a:ext cx="3060802" cy="371316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8" name="Content Placeholder 56">
            <a:extLst>
              <a:ext uri="{FF2B5EF4-FFF2-40B4-BE49-F238E27FC236}">
                <a16:creationId xmlns:a16="http://schemas.microsoft.com/office/drawing/2014/main" id="{1D5202CC-08D0-4157-9CB3-AA1EF4A2C85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384611" y="2103211"/>
            <a:ext cx="3060802" cy="371316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9" name="Content Placeholder 56">
            <a:extLst>
              <a:ext uri="{FF2B5EF4-FFF2-40B4-BE49-F238E27FC236}">
                <a16:creationId xmlns:a16="http://schemas.microsoft.com/office/drawing/2014/main" id="{7BE8E782-50B7-4C4E-BEA5-DDA27E0F6817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659892" y="2097613"/>
            <a:ext cx="3060802" cy="371316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53014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bg bwMode="blackWhite"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2C074DF2-6D4F-4B58-A82E-6322DB69A6CC}"/>
              </a:ext>
            </a:extLst>
          </p:cNvPr>
          <p:cNvGrpSpPr/>
          <p:nvPr userDrawn="1"/>
        </p:nvGrpSpPr>
        <p:grpSpPr bwMode="ltGray">
          <a:xfrm>
            <a:off x="7232499" y="-159283"/>
            <a:ext cx="4959501" cy="5242297"/>
            <a:chOff x="7232499" y="-159283"/>
            <a:chExt cx="4959501" cy="5242297"/>
          </a:xfrm>
          <a:solidFill>
            <a:srgbClr val="76280B">
              <a:alpha val="60000"/>
            </a:srgbClr>
          </a:solidFill>
        </p:grpSpPr>
        <p:pic>
          <p:nvPicPr>
            <p:cNvPr id="29" name="Graphic 28" descr="Single gear">
              <a:extLst>
                <a:ext uri="{FF2B5EF4-FFF2-40B4-BE49-F238E27FC236}">
                  <a16:creationId xmlns:a16="http://schemas.microsoft.com/office/drawing/2014/main" id="{B9A8CB2C-0A50-43EC-A2C7-F536FF84DE4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31" name="Graphic 30" descr="Single gear">
              <a:extLst>
                <a:ext uri="{FF2B5EF4-FFF2-40B4-BE49-F238E27FC236}">
                  <a16:creationId xmlns:a16="http://schemas.microsoft.com/office/drawing/2014/main" id="{71F3D36D-2C1A-4D06-A27F-6A64AA1188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32" name="Graphic 31" descr="Single gear">
              <a:extLst>
                <a:ext uri="{FF2B5EF4-FFF2-40B4-BE49-F238E27FC236}">
                  <a16:creationId xmlns:a16="http://schemas.microsoft.com/office/drawing/2014/main" id="{61F0F601-D5AC-45C0-92B6-2376085B0D5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203014"/>
              <a:ext cx="2880000" cy="2880000"/>
            </a:xfrm>
            <a:prstGeom prst="rect">
              <a:avLst/>
            </a:prstGeom>
          </p:spPr>
        </p:pic>
        <p:pic>
          <p:nvPicPr>
            <p:cNvPr id="33" name="Graphic 32" descr="Single gear">
              <a:extLst>
                <a:ext uri="{FF2B5EF4-FFF2-40B4-BE49-F238E27FC236}">
                  <a16:creationId xmlns:a16="http://schemas.microsoft.com/office/drawing/2014/main" id="{DE792A6A-B423-4979-BD59-4CD4A74069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556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1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32264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79" r:id="rId5"/>
    <p:sldLayoutId id="2147483665" r:id="rId6"/>
    <p:sldLayoutId id="2147483680" r:id="rId7"/>
    <p:sldLayoutId id="2147483666" r:id="rId8"/>
    <p:sldLayoutId id="2147483682" r:id="rId9"/>
    <p:sldLayoutId id="2147483667" r:id="rId10"/>
    <p:sldLayoutId id="2147483668" r:id="rId11"/>
    <p:sldLayoutId id="2147483681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8" r:id="rId18"/>
    <p:sldLayoutId id="2147483675" r:id="rId19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crumguides.org/scrum-guide.html#scrum-events" TargetMode="External"/><Relationship Id="rId2" Type="http://schemas.openxmlformats.org/officeDocument/2006/relationships/hyperlink" Target="https://www.scrum.org/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ww.geeksforgeeks.org/software-engineering-classical-waterfall-mode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8BBFB-4314-436C-A688-96F483D693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 anchorCtr="0"/>
          <a:lstStyle/>
          <a:p>
            <a:r>
              <a:rPr lang="en-US" dirty="0"/>
              <a:t>Sprint Review and Retrospective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A173D3-8B7E-4F91-B862-AC30CB0D2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799" y="4394039"/>
            <a:ext cx="8493957" cy="1644811"/>
          </a:xfrm>
        </p:spPr>
        <p:txBody>
          <a:bodyPr>
            <a:normAutofit/>
          </a:bodyPr>
          <a:lstStyle/>
          <a:p>
            <a:r>
              <a:rPr lang="en-US" sz="2800" dirty="0"/>
              <a:t>Michael Wood</a:t>
            </a:r>
          </a:p>
          <a:p>
            <a:r>
              <a:rPr lang="en-US" sz="1600" dirty="0"/>
              <a:t>CS-250 Software Development Lifecycle</a:t>
            </a:r>
          </a:p>
          <a:p>
            <a:r>
              <a:rPr lang="en-US" sz="1600" dirty="0"/>
              <a:t>Professor: Tammy Morrison</a:t>
            </a:r>
          </a:p>
          <a:p>
            <a:r>
              <a:rPr lang="en-US" sz="1600" dirty="0"/>
              <a:t>12/13/2024</a:t>
            </a:r>
          </a:p>
        </p:txBody>
      </p:sp>
      <p:pic>
        <p:nvPicPr>
          <p:cNvPr id="9" name="Graphic 8" descr="Book icon">
            <a:extLst>
              <a:ext uri="{FF2B5EF4-FFF2-40B4-BE49-F238E27FC236}">
                <a16:creationId xmlns:a16="http://schemas.microsoft.com/office/drawing/2014/main" id="{E26792AF-5D39-4A12-8EDD-CC09A60BD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4993" y="2961000"/>
            <a:ext cx="936000" cy="936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AF6EC-F05D-E4EB-1BAB-7CCBA7A38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47BC13-5FBF-F31B-A762-4D4784749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06530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7E30B-392D-4691-8125-129E25AAA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2A41D-6B6E-4DD0-A7BD-E8CA00126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Explanations of the Agile Roles, Phases</a:t>
            </a:r>
          </a:p>
          <a:p>
            <a:r>
              <a:rPr lang="en-US" sz="2400" dirty="0"/>
              <a:t>Description of the Waterfall Model</a:t>
            </a:r>
          </a:p>
          <a:p>
            <a:r>
              <a:rPr lang="en-US" sz="2400" dirty="0"/>
              <a:t>Factors to Consider when Choosing the Waterfall or Agile Approach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C3A29-0516-673F-50C0-15CE327DE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40CB1C-690C-1522-FA8C-6FFC93E43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45843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23205-1719-4B43-A690-268E347D39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0701" y="1989000"/>
            <a:ext cx="4433401" cy="1440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300" dirty="0"/>
              <a:t>Product Owner</a:t>
            </a:r>
          </a:p>
          <a:p>
            <a:pPr lvl="1"/>
            <a:r>
              <a:rPr lang="en-US" sz="1700" b="1" dirty="0"/>
              <a:t>Represents the Customer</a:t>
            </a:r>
          </a:p>
          <a:p>
            <a:pPr lvl="1"/>
            <a:r>
              <a:rPr lang="en-US" sz="1700" b="1" dirty="0"/>
              <a:t>Manages the Backlog</a:t>
            </a:r>
          </a:p>
          <a:p>
            <a:pPr lvl="1"/>
            <a:r>
              <a:rPr lang="en-US" sz="1700" b="1" dirty="0"/>
              <a:t>Prioritizes Tasks</a:t>
            </a:r>
          </a:p>
          <a:p>
            <a:pPr lvl="1"/>
            <a:r>
              <a:rPr lang="en-US" sz="1700" b="1" dirty="0"/>
              <a:t>Assesses the Product’s Readiness for Release</a:t>
            </a:r>
            <a:r>
              <a:rPr lang="en-US" sz="1500" b="1" dirty="0"/>
              <a:t>	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8D0989-E3E5-41DB-A78D-61E199491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1" y="753228"/>
            <a:ext cx="8503482" cy="1080938"/>
          </a:xfrm>
        </p:spPr>
        <p:txBody>
          <a:bodyPr/>
          <a:lstStyle/>
          <a:p>
            <a:r>
              <a:rPr lang="en-US" dirty="0"/>
              <a:t>Agile Roles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21FED-B50C-4A21-9460-5D32C70FEA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0701" y="3287429"/>
            <a:ext cx="4433401" cy="110629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Developer</a:t>
            </a:r>
          </a:p>
          <a:p>
            <a:pPr lvl="1"/>
            <a:r>
              <a:rPr lang="en-US" sz="1200" b="1" dirty="0"/>
              <a:t>Development Team Member</a:t>
            </a:r>
          </a:p>
          <a:p>
            <a:pPr lvl="1"/>
            <a:r>
              <a:rPr lang="en-US" sz="1200" b="1" dirty="0"/>
              <a:t>Develops Enduring Software</a:t>
            </a:r>
          </a:p>
          <a:p>
            <a:pPr lvl="1"/>
            <a:r>
              <a:rPr lang="en-US" sz="1200" b="1" dirty="0"/>
              <a:t>Creates Quality Features</a:t>
            </a:r>
          </a:p>
          <a:p>
            <a:pPr lvl="1"/>
            <a:r>
              <a:rPr lang="en-US" sz="1200" b="1" dirty="0"/>
              <a:t>Engages with Users to Establish Needs</a:t>
            </a:r>
          </a:p>
          <a:p>
            <a:pPr lvl="1"/>
            <a:endParaRPr lang="en-US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772FCB-AF44-1157-7EC6-9CFBD643CD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0701" y="4264357"/>
            <a:ext cx="4433401" cy="110629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Scrum Master</a:t>
            </a:r>
          </a:p>
          <a:p>
            <a:pPr lvl="1"/>
            <a:r>
              <a:rPr lang="en-US" sz="1200" b="1" dirty="0"/>
              <a:t>The Team Motivator (Coach)</a:t>
            </a:r>
          </a:p>
          <a:p>
            <a:pPr lvl="1"/>
            <a:r>
              <a:rPr lang="en-US" sz="1200" b="1" dirty="0"/>
              <a:t>Is a Servant Leader</a:t>
            </a:r>
          </a:p>
          <a:p>
            <a:pPr lvl="1"/>
            <a:r>
              <a:rPr lang="en-US" sz="1200" b="1" dirty="0"/>
              <a:t>Schedules Team Meetings</a:t>
            </a:r>
          </a:p>
          <a:p>
            <a:pPr lvl="1"/>
            <a:r>
              <a:rPr lang="en-US" sz="1200" b="1" dirty="0"/>
              <a:t>Works to Make the Team More Efficient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3982139-B38F-988B-668B-5EE9365029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0701" y="5483510"/>
            <a:ext cx="4433401" cy="110629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Tester</a:t>
            </a:r>
          </a:p>
          <a:p>
            <a:pPr lvl="1"/>
            <a:r>
              <a:rPr lang="en-US" sz="1200" b="1" dirty="0"/>
              <a:t>Member of Development Team</a:t>
            </a:r>
          </a:p>
          <a:p>
            <a:pPr lvl="1"/>
            <a:r>
              <a:rPr lang="en-US" sz="1200" b="1" dirty="0"/>
              <a:t>Works with Team to Create a Working Product</a:t>
            </a:r>
          </a:p>
          <a:p>
            <a:pPr lvl="1"/>
            <a:r>
              <a:rPr lang="en-US" sz="1200" b="1" dirty="0"/>
              <a:t>Creates Investigative Methods</a:t>
            </a:r>
          </a:p>
          <a:p>
            <a:pPr lvl="1"/>
            <a:r>
              <a:rPr lang="en-US" sz="1200" b="1" dirty="0"/>
              <a:t>Tests and Cleans Code for Proper Operation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  <p:pic>
        <p:nvPicPr>
          <p:cNvPr id="6" name="Graphic 5" descr="Learning icon">
            <a:extLst>
              <a:ext uri="{FF2B5EF4-FFF2-40B4-BE49-F238E27FC236}">
                <a16:creationId xmlns:a16="http://schemas.microsoft.com/office/drawing/2014/main" id="{FE130EDC-6F0A-417B-A698-CF2C65F0A3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946" y="613889"/>
            <a:ext cx="1440000" cy="14400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6A991C7-BE25-88BF-8645-227E14AE4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7CDBC65-4C7E-1500-A349-6C24D1DAC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5207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F0B92D-3894-F4E4-15DA-CE1B22878C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6999" y="2196206"/>
            <a:ext cx="2387601" cy="8239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b="1" dirty="0"/>
              <a:t>Product Backlog Creation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8B9088-15CF-7E43-7B04-4C72AF16C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Agile Phases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A91A4-806E-CAD7-A77F-5CA7DE2618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14601" y="2196205"/>
            <a:ext cx="2387602" cy="8239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b="1" dirty="0"/>
              <a:t>Sprint</a:t>
            </a:r>
          </a:p>
          <a:p>
            <a:pPr marL="0" indent="0" algn="ctr">
              <a:buNone/>
            </a:pPr>
            <a:r>
              <a:rPr lang="en-US" sz="1800" b="1" dirty="0"/>
              <a:t>Planning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1CB726-0DE2-5BAE-1BB0-E6BD66310C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902204" y="2196205"/>
            <a:ext cx="2387595" cy="8239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b="1" dirty="0"/>
              <a:t>Sprint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78DDAC-2BEB-3F24-326C-72EB85A38A3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89799" y="2196205"/>
            <a:ext cx="2387595" cy="8239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b="1" dirty="0"/>
              <a:t>Sprint</a:t>
            </a:r>
          </a:p>
          <a:p>
            <a:pPr marL="0" indent="0" algn="ctr">
              <a:buNone/>
            </a:pPr>
            <a:r>
              <a:rPr lang="en-US" sz="1800" b="1" dirty="0"/>
              <a:t>Review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79F25F-9C93-0B20-F360-E3A0B97E9C33}"/>
              </a:ext>
            </a:extLst>
          </p:cNvPr>
          <p:cNvSpPr txBox="1"/>
          <p:nvPr/>
        </p:nvSpPr>
        <p:spPr>
          <a:xfrm>
            <a:off x="9677394" y="2343604"/>
            <a:ext cx="2387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Retrospective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47F692-CA9C-7C7F-C8D2-45FE03EAC3F0}"/>
              </a:ext>
            </a:extLst>
          </p:cNvPr>
          <p:cNvSpPr txBox="1"/>
          <p:nvPr/>
        </p:nvSpPr>
        <p:spPr>
          <a:xfrm>
            <a:off x="126992" y="3020118"/>
            <a:ext cx="238759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Creation of Item Lists for Scrum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Prioritize Items within Lists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Adjust Lists and Prioritize Items </a:t>
            </a:r>
            <a:r>
              <a:rPr lang="en-US" sz="1600" dirty="0" err="1"/>
              <a:t>asand</a:t>
            </a:r>
            <a:r>
              <a:rPr lang="en-US" sz="1600" dirty="0"/>
              <a:t> when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Enable Prompt Identification of Items and Lists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AFEAD0-225B-1479-4EC1-56CDB05DC005}"/>
              </a:ext>
            </a:extLst>
          </p:cNvPr>
          <p:cNvSpPr txBox="1"/>
          <p:nvPr/>
        </p:nvSpPr>
        <p:spPr>
          <a:xfrm>
            <a:off x="2819399" y="3062047"/>
            <a:ext cx="189547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Determine Time of Sprint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Choose What Can be Done in the Time Allotment of Sprint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Plan How to Accomplish What was Chosen to Be Done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Specify Sprint’s Goal and the Development Team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0AA07B-7873-E92B-A501-04A5143E8268}"/>
              </a:ext>
            </a:extLst>
          </p:cNvPr>
          <p:cNvSpPr txBox="1"/>
          <p:nvPr/>
        </p:nvSpPr>
        <p:spPr>
          <a:xfrm>
            <a:off x="5151440" y="3020118"/>
            <a:ext cx="204469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Daily Scrum Meetings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Self-Organization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Work Collectively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Maintain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Refine Backlog as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Scope May Be Changed and Clarified with the Product Owner as More is Learned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9E1EED-DF94-C03A-89BF-5C38F7EBA9AA}"/>
              </a:ext>
            </a:extLst>
          </p:cNvPr>
          <p:cNvSpPr txBox="1"/>
          <p:nvPr/>
        </p:nvSpPr>
        <p:spPr>
          <a:xfrm>
            <a:off x="7535858" y="3020118"/>
            <a:ext cx="18954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Demonstrate Product that has Been Created with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Respond to Inquiries from the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Give the Team Productive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Celebrate the Completion of the Sprint and the Accomplishments Within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EE67E3-17CA-5D54-7384-06A286548C18}"/>
              </a:ext>
            </a:extLst>
          </p:cNvPr>
          <p:cNvSpPr txBox="1"/>
          <p:nvPr/>
        </p:nvSpPr>
        <p:spPr>
          <a:xfrm>
            <a:off x="9923455" y="3020118"/>
            <a:ext cx="204469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Communicate the Successes and the Areas that Need Improvement for the Next Sprint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Work Together to Find Ideas and Methods to Better Improve the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This is a Period of Reflection and Improvement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6E14E5B4-A96F-48C2-07CD-8691DB425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2A0B230-58E4-C639-82E9-8F15BADF3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22057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2C4B6-A44A-491A-9345-D554EBE1B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Model</a:t>
            </a:r>
          </a:p>
        </p:txBody>
      </p:sp>
      <p:sp>
        <p:nvSpPr>
          <p:cNvPr id="42" name="Oval 68">
            <a:extLst>
              <a:ext uri="{FF2B5EF4-FFF2-40B4-BE49-F238E27FC236}">
                <a16:creationId xmlns:a16="http://schemas.microsoft.com/office/drawing/2014/main" id="{AC52CD19-1014-49F6-9EFC-0B3E037B4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537" y="2086166"/>
            <a:ext cx="823913" cy="823913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 Light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 Light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 Light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 Light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 Light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 Light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 Light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 Light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 Light" pitchFamily="34" charset="0"/>
              </a:defRPr>
            </a:lvl9pPr>
          </a:lstStyle>
          <a:p>
            <a:pPr algn="ctr" eaLnBrk="1" hangingPunct="1"/>
            <a:r>
              <a:rPr lang="en-US" altLang="en-US" sz="3600" b="1" dirty="0"/>
              <a:t>1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6CA236DF-5114-4CA5-8620-41B9436499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9496" y="2250843"/>
            <a:ext cx="4433401" cy="965273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4000" b="1" dirty="0"/>
              <a:t>Feasibility Study</a:t>
            </a:r>
          </a:p>
          <a:p>
            <a:pPr marL="0" indent="0">
              <a:buNone/>
            </a:pPr>
            <a:r>
              <a:rPr lang="en-US" sz="3000" b="1" dirty="0"/>
              <a:t>Ascertain the project's viability. Find out the project's advantages and disadvantages. Comprehend the project and plan out the tactics to do it. Record all of the customer's necessary specifications.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5" name="Oval 68">
            <a:extLst>
              <a:ext uri="{FF2B5EF4-FFF2-40B4-BE49-F238E27FC236}">
                <a16:creationId xmlns:a16="http://schemas.microsoft.com/office/drawing/2014/main" id="{2C8CF75B-4297-4F4C-BB5C-0BE87F168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537" y="3051439"/>
            <a:ext cx="823913" cy="823912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 Light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 Light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 Light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 Light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 Light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 Light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 Light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 Light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 Light" pitchFamily="34" charset="0"/>
              </a:defRPr>
            </a:lvl9pPr>
          </a:lstStyle>
          <a:p>
            <a:pPr algn="ctr" eaLnBrk="1" hangingPunct="1"/>
            <a:r>
              <a:rPr lang="en-US" altLang="en-US" sz="3600" dirty="0"/>
              <a:t>2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DB5B3156-755F-47BB-AFCD-9C4855B037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8142" y="3208610"/>
            <a:ext cx="4433401" cy="8239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500" b="1" dirty="0"/>
              <a:t>Requirement Analysis</a:t>
            </a:r>
          </a:p>
          <a:p>
            <a:pPr marL="0" indent="0">
              <a:buNone/>
            </a:pPr>
            <a:r>
              <a:rPr lang="en-US" sz="1300" b="1" dirty="0"/>
              <a:t>Recognize the needs of the customer. Describe the project's progress in detail. Make sure the feasibility study and the customer's expectations are in line.</a:t>
            </a:r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endParaRPr lang="en-US" sz="1200" b="1" dirty="0"/>
          </a:p>
        </p:txBody>
      </p:sp>
      <p:sp>
        <p:nvSpPr>
          <p:cNvPr id="54" name="Oval 68">
            <a:extLst>
              <a:ext uri="{FF2B5EF4-FFF2-40B4-BE49-F238E27FC236}">
                <a16:creationId xmlns:a16="http://schemas.microsoft.com/office/drawing/2014/main" id="{33B80E49-94B9-44A5-A4BD-A0094115A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537" y="3975887"/>
            <a:ext cx="823913" cy="823912"/>
          </a:xfrm>
          <a:prstGeom prst="ellipse">
            <a:avLst/>
          </a:prstGeom>
          <a:solidFill>
            <a:srgbClr val="FFFFFF">
              <a:alpha val="20000"/>
            </a:srgbClr>
          </a:solidFill>
          <a:ln w="57150">
            <a:noFill/>
            <a:round/>
            <a:headEnd/>
            <a:tailEnd/>
          </a:ln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>
                <a:latin typeface="+mn-lt"/>
              </a:rPr>
              <a:t>3</a:t>
            </a:r>
          </a:p>
        </p:txBody>
      </p:sp>
      <p:sp>
        <p:nvSpPr>
          <p:cNvPr id="76" name="Text Placeholder 75">
            <a:extLst>
              <a:ext uri="{FF2B5EF4-FFF2-40B4-BE49-F238E27FC236}">
                <a16:creationId xmlns:a16="http://schemas.microsoft.com/office/drawing/2014/main" id="{20A0CD05-0AE4-492D-8051-9773BFFA7A1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38839" y="4077871"/>
            <a:ext cx="4433401" cy="111159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2900" b="1" dirty="0"/>
              <a:t>Design, Coding, &amp; Testing</a:t>
            </a:r>
          </a:p>
          <a:p>
            <a:pPr marL="0" indent="0">
              <a:buNone/>
            </a:pPr>
            <a:r>
              <a:rPr lang="en-US" sz="2500" b="1" dirty="0"/>
              <a:t>Take the given specifications and transform them into a programming-ready format. Source code is added to the design, and unit testing is performed to make sure everything is functioning as it should. It must be completed in a sequential manner.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</p:txBody>
      </p:sp>
      <p:sp>
        <p:nvSpPr>
          <p:cNvPr id="61" name="Oval 68">
            <a:extLst>
              <a:ext uri="{FF2B5EF4-FFF2-40B4-BE49-F238E27FC236}">
                <a16:creationId xmlns:a16="http://schemas.microsoft.com/office/drawing/2014/main" id="{5A6D6A35-6EA5-47A3-BA38-66294A59DC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787" y="4945848"/>
            <a:ext cx="823913" cy="823912"/>
          </a:xfrm>
          <a:prstGeom prst="ellipse">
            <a:avLst/>
          </a:prstGeom>
          <a:solidFill>
            <a:srgbClr val="FFFFFF">
              <a:alpha val="20000"/>
            </a:srgbClr>
          </a:solidFill>
          <a:ln w="57150">
            <a:noFill/>
            <a:round/>
            <a:headEnd/>
            <a:tailEnd/>
          </a:ln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>
                <a:latin typeface="+mn-lt"/>
              </a:rPr>
              <a:t>4</a:t>
            </a:r>
          </a:p>
        </p:txBody>
      </p:sp>
      <p:sp>
        <p:nvSpPr>
          <p:cNvPr id="77" name="Text Placeholder 76">
            <a:extLst>
              <a:ext uri="{FF2B5EF4-FFF2-40B4-BE49-F238E27FC236}">
                <a16:creationId xmlns:a16="http://schemas.microsoft.com/office/drawing/2014/main" id="{32AB4371-99E9-4FD0-A119-1CF96F2D3E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38142" y="5280859"/>
            <a:ext cx="4433401" cy="82391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500" b="1" dirty="0"/>
              <a:t>Maintenance</a:t>
            </a:r>
          </a:p>
          <a:p>
            <a:pPr marL="0" indent="0">
              <a:buNone/>
            </a:pPr>
            <a:r>
              <a:rPr lang="en-US" sz="1300" b="1" dirty="0"/>
              <a:t>Fix any mistakes that were not discovered during testing. Improve the functionality to meet the needs of the client.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</p:txBody>
      </p:sp>
      <p:grpSp>
        <p:nvGrpSpPr>
          <p:cNvPr id="44" name="Group 43" descr="steps graphic">
            <a:extLst>
              <a:ext uri="{FF2B5EF4-FFF2-40B4-BE49-F238E27FC236}">
                <a16:creationId xmlns:a16="http://schemas.microsoft.com/office/drawing/2014/main" id="{6EB24599-0719-48BC-AB48-E49D34953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431766" y="2139824"/>
            <a:ext cx="5184000" cy="3831576"/>
            <a:chOff x="6431766" y="2076324"/>
            <a:chExt cx="5184000" cy="3831576"/>
          </a:xfrm>
        </p:grpSpPr>
        <p:grpSp>
          <p:nvGrpSpPr>
            <p:cNvPr id="9" name="Group 27">
              <a:extLst>
                <a:ext uri="{FF2B5EF4-FFF2-40B4-BE49-F238E27FC236}">
                  <a16:creationId xmlns:a16="http://schemas.microsoft.com/office/drawing/2014/main" id="{CFE45C63-A0CD-4ED2-9253-02A15CFBED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31766" y="4609130"/>
              <a:ext cx="2336870" cy="1298770"/>
              <a:chOff x="4808051" y="1842051"/>
              <a:chExt cx="2369874" cy="1397540"/>
            </a:xfrm>
          </p:grpSpPr>
          <p:sp>
            <p:nvSpPr>
              <p:cNvPr id="10" name="Freeform 17">
                <a:extLst>
                  <a:ext uri="{FF2B5EF4-FFF2-40B4-BE49-F238E27FC236}">
                    <a16:creationId xmlns:a16="http://schemas.microsoft.com/office/drawing/2014/main" id="{0F99B6D3-28DD-4E91-808E-0A9D8950E9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051" y="2331219"/>
                <a:ext cx="1133349" cy="908372"/>
              </a:xfrm>
              <a:custGeom>
                <a:avLst/>
                <a:gdLst>
                  <a:gd name="T0" fmla="*/ 595 w 595"/>
                  <a:gd name="T1" fmla="*/ 671 h 671"/>
                  <a:gd name="T2" fmla="*/ 0 w 595"/>
                  <a:gd name="T3" fmla="*/ 328 h 671"/>
                  <a:gd name="T4" fmla="*/ 0 w 595"/>
                  <a:gd name="T5" fmla="*/ 0 h 671"/>
                  <a:gd name="T6" fmla="*/ 595 w 595"/>
                  <a:gd name="T7" fmla="*/ 343 h 671"/>
                  <a:gd name="T8" fmla="*/ 595 w 595"/>
                  <a:gd name="T9" fmla="*/ 671 h 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5" h="671">
                    <a:moveTo>
                      <a:pt x="595" y="671"/>
                    </a:moveTo>
                    <a:lnTo>
                      <a:pt x="0" y="328"/>
                    </a:lnTo>
                    <a:lnTo>
                      <a:pt x="0" y="0"/>
                    </a:lnTo>
                    <a:lnTo>
                      <a:pt x="595" y="343"/>
                    </a:lnTo>
                    <a:lnTo>
                      <a:pt x="595" y="671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" name="Freeform 18">
                <a:extLst>
                  <a:ext uri="{FF2B5EF4-FFF2-40B4-BE49-F238E27FC236}">
                    <a16:creationId xmlns:a16="http://schemas.microsoft.com/office/drawing/2014/main" id="{550D5C59-96EE-4437-9C44-B45AA3D56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051" y="1842051"/>
                <a:ext cx="2369874" cy="959190"/>
              </a:xfrm>
              <a:custGeom>
                <a:avLst/>
                <a:gdLst>
                  <a:gd name="T0" fmla="*/ 595 w 1244"/>
                  <a:gd name="T1" fmla="*/ 709 h 709"/>
                  <a:gd name="T2" fmla="*/ 0 w 1244"/>
                  <a:gd name="T3" fmla="*/ 366 h 709"/>
                  <a:gd name="T4" fmla="*/ 649 w 1244"/>
                  <a:gd name="T5" fmla="*/ 0 h 709"/>
                  <a:gd name="T6" fmla="*/ 1244 w 1244"/>
                  <a:gd name="T7" fmla="*/ 343 h 709"/>
                  <a:gd name="T8" fmla="*/ 595 w 1244"/>
                  <a:gd name="T9" fmla="*/ 709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44" h="709">
                    <a:moveTo>
                      <a:pt x="595" y="709"/>
                    </a:moveTo>
                    <a:lnTo>
                      <a:pt x="0" y="366"/>
                    </a:lnTo>
                    <a:lnTo>
                      <a:pt x="649" y="0"/>
                    </a:lnTo>
                    <a:lnTo>
                      <a:pt x="1244" y="343"/>
                    </a:lnTo>
                    <a:lnTo>
                      <a:pt x="595" y="7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" name="Freeform 19">
                <a:extLst>
                  <a:ext uri="{FF2B5EF4-FFF2-40B4-BE49-F238E27FC236}">
                    <a16:creationId xmlns:a16="http://schemas.microsoft.com/office/drawing/2014/main" id="{163804A0-E4BE-4601-AEB6-7EC3284F52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1552" y="2300082"/>
                <a:ext cx="1236373" cy="939508"/>
              </a:xfrm>
              <a:custGeom>
                <a:avLst/>
                <a:gdLst>
                  <a:gd name="T0" fmla="*/ 1236373 w 649"/>
                  <a:gd name="T1" fmla="*/ 0 h 694"/>
                  <a:gd name="T2" fmla="*/ 1236373 w 649"/>
                  <a:gd name="T3" fmla="*/ 444033 h 694"/>
                  <a:gd name="T4" fmla="*/ 0 w 649"/>
                  <a:gd name="T5" fmla="*/ 939508 h 694"/>
                  <a:gd name="T6" fmla="*/ 0 w 649"/>
                  <a:gd name="T7" fmla="*/ 495475 h 694"/>
                  <a:gd name="T8" fmla="*/ 1236373 w 649"/>
                  <a:gd name="T9" fmla="*/ 0 h 69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49" h="694">
                    <a:moveTo>
                      <a:pt x="649" y="0"/>
                    </a:moveTo>
                    <a:lnTo>
                      <a:pt x="649" y="328"/>
                    </a:lnTo>
                    <a:lnTo>
                      <a:pt x="0" y="694"/>
                    </a:lnTo>
                    <a:lnTo>
                      <a:pt x="0" y="366"/>
                    </a:lnTo>
                    <a:lnTo>
                      <a:pt x="649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13" name="Group 35">
              <a:extLst>
                <a:ext uri="{FF2B5EF4-FFF2-40B4-BE49-F238E27FC236}">
                  <a16:creationId xmlns:a16="http://schemas.microsoft.com/office/drawing/2014/main" id="{BBFED9B2-8B04-4E8F-B036-2BB7CCF95C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49331" y="3859410"/>
              <a:ext cx="2336870" cy="1307583"/>
              <a:chOff x="4808051" y="4299121"/>
              <a:chExt cx="2369874" cy="1405200"/>
            </a:xfrm>
          </p:grpSpPr>
          <p:sp>
            <p:nvSpPr>
              <p:cNvPr id="14" name="Freeform 8">
                <a:extLst>
                  <a:ext uri="{FF2B5EF4-FFF2-40B4-BE49-F238E27FC236}">
                    <a16:creationId xmlns:a16="http://schemas.microsoft.com/office/drawing/2014/main" id="{7DA26508-A6A4-4F4C-AC60-E9459BF288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051" y="4795540"/>
                <a:ext cx="1133349" cy="908781"/>
              </a:xfrm>
              <a:custGeom>
                <a:avLst/>
                <a:gdLst>
                  <a:gd name="T0" fmla="*/ 595 w 595"/>
                  <a:gd name="T1" fmla="*/ 671 h 671"/>
                  <a:gd name="T2" fmla="*/ 0 w 595"/>
                  <a:gd name="T3" fmla="*/ 328 h 671"/>
                  <a:gd name="T4" fmla="*/ 0 w 595"/>
                  <a:gd name="T5" fmla="*/ 0 h 671"/>
                  <a:gd name="T6" fmla="*/ 595 w 595"/>
                  <a:gd name="T7" fmla="*/ 343 h 671"/>
                  <a:gd name="T8" fmla="*/ 595 w 595"/>
                  <a:gd name="T9" fmla="*/ 671 h 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5" h="671">
                    <a:moveTo>
                      <a:pt x="595" y="671"/>
                    </a:moveTo>
                    <a:lnTo>
                      <a:pt x="0" y="328"/>
                    </a:lnTo>
                    <a:lnTo>
                      <a:pt x="0" y="0"/>
                    </a:lnTo>
                    <a:lnTo>
                      <a:pt x="595" y="343"/>
                    </a:lnTo>
                    <a:lnTo>
                      <a:pt x="595" y="671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j-lt"/>
                </a:endParaRPr>
              </a:p>
            </p:txBody>
          </p:sp>
          <p:sp>
            <p:nvSpPr>
              <p:cNvPr id="15" name="Freeform 9">
                <a:extLst>
                  <a:ext uri="{FF2B5EF4-FFF2-40B4-BE49-F238E27FC236}">
                    <a16:creationId xmlns:a16="http://schemas.microsoft.com/office/drawing/2014/main" id="{0FC13C28-081C-4595-9C9D-7D21EB3FA9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051" y="4299121"/>
                <a:ext cx="2369874" cy="961119"/>
              </a:xfrm>
              <a:custGeom>
                <a:avLst/>
                <a:gdLst>
                  <a:gd name="T0" fmla="*/ 595 w 1244"/>
                  <a:gd name="T1" fmla="*/ 710 h 710"/>
                  <a:gd name="T2" fmla="*/ 0 w 1244"/>
                  <a:gd name="T3" fmla="*/ 367 h 710"/>
                  <a:gd name="T4" fmla="*/ 649 w 1244"/>
                  <a:gd name="T5" fmla="*/ 0 h 710"/>
                  <a:gd name="T6" fmla="*/ 1244 w 1244"/>
                  <a:gd name="T7" fmla="*/ 344 h 710"/>
                  <a:gd name="T8" fmla="*/ 595 w 1244"/>
                  <a:gd name="T9" fmla="*/ 710 h 7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44" h="710">
                    <a:moveTo>
                      <a:pt x="595" y="710"/>
                    </a:moveTo>
                    <a:lnTo>
                      <a:pt x="0" y="367"/>
                    </a:lnTo>
                    <a:lnTo>
                      <a:pt x="649" y="0"/>
                    </a:lnTo>
                    <a:lnTo>
                      <a:pt x="1244" y="344"/>
                    </a:lnTo>
                    <a:lnTo>
                      <a:pt x="595" y="71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j-lt"/>
                </a:endParaRPr>
              </a:p>
            </p:txBody>
          </p:sp>
          <p:sp>
            <p:nvSpPr>
              <p:cNvPr id="16" name="Freeform 10">
                <a:extLst>
                  <a:ext uri="{FF2B5EF4-FFF2-40B4-BE49-F238E27FC236}">
                    <a16:creationId xmlns:a16="http://schemas.microsoft.com/office/drawing/2014/main" id="{31980248-1ADA-45C6-923A-02F7423266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1552" y="4764813"/>
                <a:ext cx="1236373" cy="939508"/>
              </a:xfrm>
              <a:custGeom>
                <a:avLst/>
                <a:gdLst>
                  <a:gd name="T0" fmla="*/ 1236373 w 649"/>
                  <a:gd name="T1" fmla="*/ 0 h 694"/>
                  <a:gd name="T2" fmla="*/ 1236373 w 649"/>
                  <a:gd name="T3" fmla="*/ 444033 h 694"/>
                  <a:gd name="T4" fmla="*/ 0 w 649"/>
                  <a:gd name="T5" fmla="*/ 939508 h 694"/>
                  <a:gd name="T6" fmla="*/ 0 w 649"/>
                  <a:gd name="T7" fmla="*/ 495475 h 694"/>
                  <a:gd name="T8" fmla="*/ 1236373 w 649"/>
                  <a:gd name="T9" fmla="*/ 0 h 69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49" h="694">
                    <a:moveTo>
                      <a:pt x="649" y="0"/>
                    </a:moveTo>
                    <a:lnTo>
                      <a:pt x="649" y="328"/>
                    </a:lnTo>
                    <a:lnTo>
                      <a:pt x="0" y="694"/>
                    </a:lnTo>
                    <a:lnTo>
                      <a:pt x="0" y="366"/>
                    </a:lnTo>
                    <a:lnTo>
                      <a:pt x="649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>
                  <a:latin typeface="+mj-lt"/>
                </a:endParaRPr>
              </a:p>
            </p:txBody>
          </p:sp>
        </p:grpSp>
        <p:grpSp>
          <p:nvGrpSpPr>
            <p:cNvPr id="17" name="Group 39">
              <a:extLst>
                <a:ext uri="{FF2B5EF4-FFF2-40B4-BE49-F238E27FC236}">
                  <a16:creationId xmlns:a16="http://schemas.microsoft.com/office/drawing/2014/main" id="{DBAE3F99-4416-43BB-802B-06B8C3273C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39940" y="3145110"/>
              <a:ext cx="2335304" cy="1306106"/>
              <a:chOff x="4808051" y="5135743"/>
              <a:chExt cx="2369874" cy="1405200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86042750-61FD-40FA-B325-3248D0B0BC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051" y="5632723"/>
                <a:ext cx="1134109" cy="908220"/>
              </a:xfrm>
              <a:custGeom>
                <a:avLst/>
                <a:gdLst>
                  <a:gd name="T0" fmla="*/ 595 w 595"/>
                  <a:gd name="T1" fmla="*/ 671 h 671"/>
                  <a:gd name="T2" fmla="*/ 0 w 595"/>
                  <a:gd name="T3" fmla="*/ 328 h 671"/>
                  <a:gd name="T4" fmla="*/ 0 w 595"/>
                  <a:gd name="T5" fmla="*/ 0 h 671"/>
                  <a:gd name="T6" fmla="*/ 595 w 595"/>
                  <a:gd name="T7" fmla="*/ 343 h 671"/>
                  <a:gd name="T8" fmla="*/ 595 w 595"/>
                  <a:gd name="T9" fmla="*/ 671 h 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5" h="671">
                    <a:moveTo>
                      <a:pt x="595" y="671"/>
                    </a:moveTo>
                    <a:lnTo>
                      <a:pt x="0" y="328"/>
                    </a:lnTo>
                    <a:lnTo>
                      <a:pt x="0" y="0"/>
                    </a:lnTo>
                    <a:lnTo>
                      <a:pt x="595" y="343"/>
                    </a:lnTo>
                    <a:lnTo>
                      <a:pt x="595" y="671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D2485B1E-22DE-4313-87F3-58173AEACC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051" y="5135743"/>
                <a:ext cx="2369874" cy="960617"/>
              </a:xfrm>
              <a:custGeom>
                <a:avLst/>
                <a:gdLst>
                  <a:gd name="T0" fmla="*/ 595 w 1244"/>
                  <a:gd name="T1" fmla="*/ 710 h 710"/>
                  <a:gd name="T2" fmla="*/ 0 w 1244"/>
                  <a:gd name="T3" fmla="*/ 367 h 710"/>
                  <a:gd name="T4" fmla="*/ 649 w 1244"/>
                  <a:gd name="T5" fmla="*/ 0 h 710"/>
                  <a:gd name="T6" fmla="*/ 1244 w 1244"/>
                  <a:gd name="T7" fmla="*/ 344 h 710"/>
                  <a:gd name="T8" fmla="*/ 595 w 1244"/>
                  <a:gd name="T9" fmla="*/ 710 h 7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44" h="710">
                    <a:moveTo>
                      <a:pt x="595" y="710"/>
                    </a:moveTo>
                    <a:lnTo>
                      <a:pt x="0" y="367"/>
                    </a:lnTo>
                    <a:lnTo>
                      <a:pt x="649" y="0"/>
                    </a:lnTo>
                    <a:lnTo>
                      <a:pt x="1244" y="344"/>
                    </a:lnTo>
                    <a:lnTo>
                      <a:pt x="595" y="71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" name="Freeform 7">
                <a:extLst>
                  <a:ext uri="{FF2B5EF4-FFF2-40B4-BE49-F238E27FC236}">
                    <a16:creationId xmlns:a16="http://schemas.microsoft.com/office/drawing/2014/main" id="{6D372190-F03C-4E10-9BB3-D0799862DE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2160" y="5600967"/>
                <a:ext cx="1235765" cy="939976"/>
              </a:xfrm>
              <a:custGeom>
                <a:avLst/>
                <a:gdLst>
                  <a:gd name="T0" fmla="*/ 649 w 649"/>
                  <a:gd name="T1" fmla="*/ 0 h 694"/>
                  <a:gd name="T2" fmla="*/ 649 w 649"/>
                  <a:gd name="T3" fmla="*/ 328 h 694"/>
                  <a:gd name="T4" fmla="*/ 0 w 649"/>
                  <a:gd name="T5" fmla="*/ 694 h 694"/>
                  <a:gd name="T6" fmla="*/ 0 w 649"/>
                  <a:gd name="T7" fmla="*/ 366 h 694"/>
                  <a:gd name="T8" fmla="*/ 649 w 649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9" h="694">
                    <a:moveTo>
                      <a:pt x="649" y="0"/>
                    </a:moveTo>
                    <a:lnTo>
                      <a:pt x="649" y="328"/>
                    </a:lnTo>
                    <a:lnTo>
                      <a:pt x="0" y="694"/>
                    </a:lnTo>
                    <a:lnTo>
                      <a:pt x="0" y="366"/>
                    </a:lnTo>
                    <a:lnTo>
                      <a:pt x="649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grpSp>
          <p:nvGrpSpPr>
            <p:cNvPr id="21" name="Group 31">
              <a:extLst>
                <a:ext uri="{FF2B5EF4-FFF2-40B4-BE49-F238E27FC236}">
                  <a16:creationId xmlns:a16="http://schemas.microsoft.com/office/drawing/2014/main" id="{AAF307FC-5513-426F-BB40-B722D6DF2E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78897" y="2438188"/>
              <a:ext cx="2336869" cy="1304631"/>
              <a:chOff x="4808051" y="3515295"/>
              <a:chExt cx="2369874" cy="1403847"/>
            </a:xfrm>
          </p:grpSpPr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74A81D7B-94A3-42C9-80AC-62D5D0110B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051" y="4010770"/>
                <a:ext cx="1133349" cy="908372"/>
              </a:xfrm>
              <a:custGeom>
                <a:avLst/>
                <a:gdLst>
                  <a:gd name="T0" fmla="*/ 595 w 595"/>
                  <a:gd name="T1" fmla="*/ 671 h 671"/>
                  <a:gd name="T2" fmla="*/ 0 w 595"/>
                  <a:gd name="T3" fmla="*/ 328 h 671"/>
                  <a:gd name="T4" fmla="*/ 0 w 595"/>
                  <a:gd name="T5" fmla="*/ 0 h 671"/>
                  <a:gd name="T6" fmla="*/ 595 w 595"/>
                  <a:gd name="T7" fmla="*/ 343 h 671"/>
                  <a:gd name="T8" fmla="*/ 595 w 595"/>
                  <a:gd name="T9" fmla="*/ 671 h 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5" h="671">
                    <a:moveTo>
                      <a:pt x="595" y="671"/>
                    </a:moveTo>
                    <a:lnTo>
                      <a:pt x="0" y="328"/>
                    </a:lnTo>
                    <a:lnTo>
                      <a:pt x="0" y="0"/>
                    </a:lnTo>
                    <a:lnTo>
                      <a:pt x="595" y="343"/>
                    </a:lnTo>
                    <a:lnTo>
                      <a:pt x="595" y="671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C157D7EE-659C-409B-A1E6-7D05687D7F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051" y="3515295"/>
                <a:ext cx="2369874" cy="959190"/>
              </a:xfrm>
              <a:custGeom>
                <a:avLst/>
                <a:gdLst>
                  <a:gd name="T0" fmla="*/ 595 w 1244"/>
                  <a:gd name="T1" fmla="*/ 709 h 709"/>
                  <a:gd name="T2" fmla="*/ 0 w 1244"/>
                  <a:gd name="T3" fmla="*/ 366 h 709"/>
                  <a:gd name="T4" fmla="*/ 649 w 1244"/>
                  <a:gd name="T5" fmla="*/ 0 h 709"/>
                  <a:gd name="T6" fmla="*/ 1244 w 1244"/>
                  <a:gd name="T7" fmla="*/ 343 h 709"/>
                  <a:gd name="T8" fmla="*/ 595 w 1244"/>
                  <a:gd name="T9" fmla="*/ 709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44" h="709">
                    <a:moveTo>
                      <a:pt x="595" y="709"/>
                    </a:moveTo>
                    <a:lnTo>
                      <a:pt x="0" y="366"/>
                    </a:lnTo>
                    <a:lnTo>
                      <a:pt x="649" y="0"/>
                    </a:lnTo>
                    <a:lnTo>
                      <a:pt x="1244" y="343"/>
                    </a:lnTo>
                    <a:lnTo>
                      <a:pt x="595" y="7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" name="Freeform 13">
                <a:extLst>
                  <a:ext uri="{FF2B5EF4-FFF2-40B4-BE49-F238E27FC236}">
                    <a16:creationId xmlns:a16="http://schemas.microsoft.com/office/drawing/2014/main" id="{0F6A3B05-53B7-4EA3-88B4-ED578C58E4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1400" y="3976396"/>
                <a:ext cx="1236525" cy="940133"/>
              </a:xfrm>
              <a:custGeom>
                <a:avLst/>
                <a:gdLst>
                  <a:gd name="T0" fmla="*/ 649 w 649"/>
                  <a:gd name="T1" fmla="*/ 0 h 694"/>
                  <a:gd name="T2" fmla="*/ 649 w 649"/>
                  <a:gd name="T3" fmla="*/ 328 h 694"/>
                  <a:gd name="T4" fmla="*/ 0 w 649"/>
                  <a:gd name="T5" fmla="*/ 694 h 694"/>
                  <a:gd name="T6" fmla="*/ 0 w 649"/>
                  <a:gd name="T7" fmla="*/ 366 h 694"/>
                  <a:gd name="T8" fmla="*/ 649 w 649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9" h="694">
                    <a:moveTo>
                      <a:pt x="649" y="0"/>
                    </a:moveTo>
                    <a:lnTo>
                      <a:pt x="649" y="328"/>
                    </a:lnTo>
                    <a:lnTo>
                      <a:pt x="0" y="694"/>
                    </a:lnTo>
                    <a:lnTo>
                      <a:pt x="0" y="366"/>
                    </a:lnTo>
                    <a:lnTo>
                      <a:pt x="649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C384F39-BE7C-4DC7-9463-38206393DEC4}"/>
                </a:ext>
              </a:extLst>
            </p:cNvPr>
            <p:cNvGrpSpPr/>
            <p:nvPr/>
          </p:nvGrpSpPr>
          <p:grpSpPr>
            <a:xfrm>
              <a:off x="7668115" y="3549446"/>
              <a:ext cx="529043" cy="396000"/>
              <a:chOff x="7687796" y="3553060"/>
              <a:chExt cx="529043" cy="396000"/>
            </a:xfrm>
          </p:grpSpPr>
          <p:sp>
            <p:nvSpPr>
              <p:cNvPr id="26" name="Teardrop 25">
                <a:extLst>
                  <a:ext uri="{FF2B5EF4-FFF2-40B4-BE49-F238E27FC236}">
                    <a16:creationId xmlns:a16="http://schemas.microsoft.com/office/drawing/2014/main" id="{E668D9BC-775F-4484-A481-0A547E2A5D3E}"/>
                  </a:ext>
                </a:extLst>
              </p:cNvPr>
              <p:cNvSpPr/>
              <p:nvPr/>
            </p:nvSpPr>
            <p:spPr>
              <a:xfrm rot="7994273">
                <a:off x="7750851" y="3553060"/>
                <a:ext cx="396000" cy="396000"/>
              </a:xfrm>
              <a:prstGeom prst="teardrop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200" dirty="0">
                  <a:latin typeface="+mj-lt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C18C2F6-BC37-4856-9C97-AB28F5F35F30}"/>
                  </a:ext>
                </a:extLst>
              </p:cNvPr>
              <p:cNvSpPr/>
              <p:nvPr/>
            </p:nvSpPr>
            <p:spPr>
              <a:xfrm>
                <a:off x="7800745" y="3600615"/>
                <a:ext cx="301007" cy="28381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200" dirty="0">
                  <a:latin typeface="+mj-lt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CF68FA9-42C6-4204-B804-635DC098A5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7796" y="3587891"/>
                <a:ext cx="529043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1" dirty="0">
                    <a:latin typeface="+mj-lt"/>
                  </a:rPr>
                  <a:t>3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3A0B2E9-CE29-4F7C-AFC9-679B8873B095}"/>
                </a:ext>
              </a:extLst>
            </p:cNvPr>
            <p:cNvGrpSpPr/>
            <p:nvPr/>
          </p:nvGrpSpPr>
          <p:grpSpPr>
            <a:xfrm>
              <a:off x="6694640" y="4272888"/>
              <a:ext cx="527478" cy="396000"/>
              <a:chOff x="6694640" y="4272888"/>
              <a:chExt cx="527478" cy="396000"/>
            </a:xfrm>
          </p:grpSpPr>
          <p:sp>
            <p:nvSpPr>
              <p:cNvPr id="29" name="Teardrop 28">
                <a:extLst>
                  <a:ext uri="{FF2B5EF4-FFF2-40B4-BE49-F238E27FC236}">
                    <a16:creationId xmlns:a16="http://schemas.microsoft.com/office/drawing/2014/main" id="{714DA6B9-3503-4743-B96D-C0387E3433EB}"/>
                  </a:ext>
                </a:extLst>
              </p:cNvPr>
              <p:cNvSpPr/>
              <p:nvPr/>
            </p:nvSpPr>
            <p:spPr>
              <a:xfrm rot="7994273">
                <a:off x="6757610" y="4272888"/>
                <a:ext cx="396000" cy="396000"/>
              </a:xfrm>
              <a:prstGeom prst="teardrop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200" dirty="0">
                  <a:latin typeface="+mj-lt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0538BF2D-7205-429C-9920-69C767E77FD5}"/>
                  </a:ext>
                </a:extLst>
              </p:cNvPr>
              <p:cNvSpPr/>
              <p:nvPr/>
            </p:nvSpPr>
            <p:spPr>
              <a:xfrm>
                <a:off x="6807876" y="4320739"/>
                <a:ext cx="301007" cy="28381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200" dirty="0">
                  <a:latin typeface="+mj-lt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CCC179C-E666-4CBA-8225-E9AE8F63B9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94640" y="4304252"/>
                <a:ext cx="527478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1" dirty="0">
                    <a:latin typeface="+mj-lt"/>
                  </a:rPr>
                  <a:t>4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F76D10B-6ACE-4638-AB7A-1EF3942918AD}"/>
                </a:ext>
              </a:extLst>
            </p:cNvPr>
            <p:cNvGrpSpPr/>
            <p:nvPr/>
          </p:nvGrpSpPr>
          <p:grpSpPr>
            <a:xfrm>
              <a:off x="8607357" y="2825895"/>
              <a:ext cx="529043" cy="396000"/>
              <a:chOff x="8505184" y="2844945"/>
              <a:chExt cx="529043" cy="396000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E0767904-B09B-41EB-A4C9-DA5D7C8E09E8}"/>
                  </a:ext>
                </a:extLst>
              </p:cNvPr>
              <p:cNvSpPr/>
              <p:nvPr/>
            </p:nvSpPr>
            <p:spPr>
              <a:xfrm>
                <a:off x="8618133" y="2898296"/>
                <a:ext cx="301007" cy="28381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200" dirty="0">
                  <a:latin typeface="+mj-lt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736825B-C1D7-48B5-B010-D3116A534D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05184" y="2872872"/>
                <a:ext cx="529043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1" dirty="0">
                    <a:latin typeface="+mj-lt"/>
                  </a:rPr>
                  <a:t>2</a:t>
                </a:r>
              </a:p>
            </p:txBody>
          </p:sp>
          <p:sp>
            <p:nvSpPr>
              <p:cNvPr id="68" name="Teardrop 67">
                <a:extLst>
                  <a:ext uri="{FF2B5EF4-FFF2-40B4-BE49-F238E27FC236}">
                    <a16:creationId xmlns:a16="http://schemas.microsoft.com/office/drawing/2014/main" id="{6A511322-FCB6-4287-85D1-8002AF8690E8}"/>
                  </a:ext>
                </a:extLst>
              </p:cNvPr>
              <p:cNvSpPr/>
              <p:nvPr/>
            </p:nvSpPr>
            <p:spPr>
              <a:xfrm rot="7994273">
                <a:off x="8570636" y="2844945"/>
                <a:ext cx="396000" cy="396000"/>
              </a:xfrm>
              <a:prstGeom prst="teardrop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200" dirty="0">
                  <a:latin typeface="+mj-lt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363545A-9938-4AE2-BE9F-9DD50FC1DC56}"/>
                </a:ext>
              </a:extLst>
            </p:cNvPr>
            <p:cNvGrpSpPr/>
            <p:nvPr/>
          </p:nvGrpSpPr>
          <p:grpSpPr>
            <a:xfrm>
              <a:off x="9564497" y="2076324"/>
              <a:ext cx="529043" cy="396000"/>
              <a:chOff x="9564497" y="2089024"/>
              <a:chExt cx="529043" cy="396000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6D2B501A-72D7-40B8-9802-DE6E8019ADB1}"/>
                  </a:ext>
                </a:extLst>
              </p:cNvPr>
              <p:cNvGrpSpPr/>
              <p:nvPr/>
            </p:nvGrpSpPr>
            <p:grpSpPr>
              <a:xfrm>
                <a:off x="9564497" y="2116951"/>
                <a:ext cx="529043" cy="309240"/>
                <a:chOff x="9564497" y="2116951"/>
                <a:chExt cx="529043" cy="309240"/>
              </a:xfrm>
            </p:grpSpPr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A1A0480E-9E12-4EA2-BCCF-0C55EF3201CC}"/>
                    </a:ext>
                  </a:extLst>
                </p:cNvPr>
                <p:cNvSpPr/>
                <p:nvPr/>
              </p:nvSpPr>
              <p:spPr>
                <a:xfrm>
                  <a:off x="9683796" y="2142375"/>
                  <a:ext cx="301007" cy="283816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200" dirty="0">
                    <a:latin typeface="+mj-lt"/>
                  </a:endParaRP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C5B3665F-4DAC-41AB-8260-BF53DC2396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564497" y="2116951"/>
                  <a:ext cx="529043" cy="30777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Open Sans Light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Open Sans Light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Open Sans Light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Open Sans Light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Open Sans Light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 Light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 Light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 Light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 Light" pitchFamily="34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1400" b="1" dirty="0">
                      <a:latin typeface="+mj-lt"/>
                    </a:rPr>
                    <a:t>1</a:t>
                  </a:r>
                </a:p>
              </p:txBody>
            </p:sp>
          </p:grpSp>
          <p:sp>
            <p:nvSpPr>
              <p:cNvPr id="71" name="Teardrop 70">
                <a:extLst>
                  <a:ext uri="{FF2B5EF4-FFF2-40B4-BE49-F238E27FC236}">
                    <a16:creationId xmlns:a16="http://schemas.microsoft.com/office/drawing/2014/main" id="{8FD8D4C2-2B0C-4395-B822-9A684D330211}"/>
                  </a:ext>
                </a:extLst>
              </p:cNvPr>
              <p:cNvSpPr/>
              <p:nvPr/>
            </p:nvSpPr>
            <p:spPr>
              <a:xfrm rot="7994273">
                <a:off x="9636299" y="2089024"/>
                <a:ext cx="396000" cy="396000"/>
              </a:xfrm>
              <a:prstGeom prst="teardrop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200" dirty="0">
                  <a:latin typeface="+mj-lt"/>
                </a:endParaRPr>
              </a:p>
            </p:txBody>
          </p:sp>
        </p:grpSp>
      </p:grp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FB9D72E3-908A-9271-288D-86D0E29CA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027B2E8E-1E36-DA43-2852-3D932DFEE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9456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3C6BF-989A-5504-D4F2-4D21F98B0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Agile or Waterfall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DB939-0C60-C99E-B84C-0E28A90AF0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Waterfall</a:t>
            </a:r>
          </a:p>
          <a:p>
            <a:r>
              <a:rPr lang="en-US" sz="1600" dirty="0"/>
              <a:t>Easy to use and understand</a:t>
            </a:r>
          </a:p>
          <a:p>
            <a:r>
              <a:rPr lang="en-US" sz="1600" dirty="0"/>
              <a:t>Project scope is clearly defined</a:t>
            </a:r>
          </a:p>
          <a:p>
            <a:r>
              <a:rPr lang="en-US" sz="1600" dirty="0"/>
              <a:t>Great for small projects that are clearly laid out</a:t>
            </a:r>
          </a:p>
          <a:p>
            <a:r>
              <a:rPr lang="en-US" sz="1600" dirty="0"/>
              <a:t>Allows for team turnover</a:t>
            </a:r>
          </a:p>
          <a:p>
            <a:r>
              <a:rPr lang="en-US" sz="1600" dirty="0"/>
              <a:t>Change request cannot be done until the project is finished</a:t>
            </a:r>
          </a:p>
          <a:p>
            <a:r>
              <a:rPr lang="en-US" sz="1600" dirty="0"/>
              <a:t>No overlapping of phases and all phases are sequential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D1875-58E7-BD4D-3046-B6B91C4F523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Agile</a:t>
            </a:r>
          </a:p>
          <a:p>
            <a:r>
              <a:rPr lang="en-US" sz="1600" dirty="0"/>
              <a:t>Needs a cohesive team</a:t>
            </a:r>
          </a:p>
          <a:p>
            <a:r>
              <a:rPr lang="en-US" sz="1600" dirty="0"/>
              <a:t>Able to deliver small working pieces of product to the customer often</a:t>
            </a:r>
          </a:p>
          <a:p>
            <a:r>
              <a:rPr lang="en-US" sz="1600" dirty="0"/>
              <a:t>Developing and testing work together eliminating possible bottlenecks</a:t>
            </a:r>
          </a:p>
          <a:p>
            <a:r>
              <a:rPr lang="en-US" sz="1600" dirty="0"/>
              <a:t>Prioritizes speed over comprehensive documentation</a:t>
            </a:r>
          </a:p>
          <a:p>
            <a:r>
              <a:rPr lang="en-US" sz="1600" dirty="0"/>
              <a:t>Scaling up to big businesses can be challenging</a:t>
            </a:r>
          </a:p>
          <a:p>
            <a:r>
              <a:rPr lang="en-US" sz="1600" dirty="0"/>
              <a:t>promotes adaptability by permitting back-and-forth movement during the project.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00DEE8-2CE3-F05A-68CA-D7A1A027F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A5AE6-22BB-3660-2AC1-8775499BD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03382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2A5814-BC40-4A37-9064-C44C73C883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i="1" dirty="0"/>
              <a:t>Scrum Forum, </a:t>
            </a:r>
            <a:r>
              <a:rPr lang="en-US" sz="1600" dirty="0"/>
              <a:t>Scrum.org (n.d.). </a:t>
            </a:r>
            <a:r>
              <a:rPr lang="en-US" sz="1600" dirty="0">
                <a:hlinkClick r:id="rId2"/>
              </a:rPr>
              <a:t>https://www.scrum.org/</a:t>
            </a:r>
            <a:endParaRPr lang="en-US" sz="1600" dirty="0"/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Schwaber</a:t>
            </a:r>
            <a:r>
              <a:rPr lang="en-US" sz="1600" dirty="0"/>
              <a:t>, K., &amp; Sutherland, J. (2020). </a:t>
            </a:r>
            <a:r>
              <a:rPr lang="en-US" sz="1600" i="1" dirty="0"/>
              <a:t>The 2020 Scrum Guide. </a:t>
            </a:r>
            <a:r>
              <a:rPr lang="en-US" sz="1600" dirty="0"/>
              <a:t> Scrum Guide/ Scrum Guides. </a:t>
            </a:r>
            <a:r>
              <a:rPr lang="en-US" sz="1600" dirty="0">
                <a:hlinkClick r:id="rId3"/>
              </a:rPr>
              <a:t>https://scrumguides.org/scrum-guide.html#scrum-events</a:t>
            </a:r>
            <a:r>
              <a:rPr lang="en-US" sz="1600" dirty="0"/>
              <a:t>.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Pal, S.K. (2019, September 9). </a:t>
            </a:r>
            <a:r>
              <a:rPr lang="en-US" sz="1600" i="1" dirty="0"/>
              <a:t>Software engineering: Classical waterfall model.</a:t>
            </a:r>
            <a:r>
              <a:rPr lang="en-US" sz="1600" dirty="0"/>
              <a:t> Geeks for Geeks. </a:t>
            </a:r>
            <a:r>
              <a:rPr lang="en-US" sz="1600" dirty="0">
                <a:hlinkClick r:id="rId4"/>
              </a:rPr>
              <a:t>https://www.geeksforgeeks.org/software-engineering-classical-waterfall-model/</a:t>
            </a:r>
            <a:r>
              <a:rPr lang="en-US" sz="1600" dirty="0"/>
              <a:t>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DA63BD-9C61-297A-F5E0-97F42F6D4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12/13/2024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75266-CD66-6395-B0CF-9DBA5B847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94598200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Custom 11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67421116_win32_fixed.potx" id="{FA6E73D7-AB4D-470A-BC20-4A5DAA7F1483}" vid="{121C5919-B768-4EE0-B81A-4F293224EA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Reflection on learning </Template>
  <TotalTime>127</TotalTime>
  <Words>1022</Words>
  <Application>Microsoft Office PowerPoint</Application>
  <PresentationFormat>Widescreen</PresentationFormat>
  <Paragraphs>147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Segoe UI</vt:lpstr>
      <vt:lpstr>Trebuchet MS</vt:lpstr>
      <vt:lpstr>Wingdings</vt:lpstr>
      <vt:lpstr>Berlin</vt:lpstr>
      <vt:lpstr>Sprint Review and Retrospective</vt:lpstr>
      <vt:lpstr>Purpose</vt:lpstr>
      <vt:lpstr>Agile Roles</vt:lpstr>
      <vt:lpstr>Agile Phases</vt:lpstr>
      <vt:lpstr>Waterfall Model</vt:lpstr>
      <vt:lpstr>Agile or Waterfall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Wood</dc:creator>
  <cp:lastModifiedBy>Michael Wood</cp:lastModifiedBy>
  <cp:revision>1</cp:revision>
  <dcterms:created xsi:type="dcterms:W3CDTF">2024-12-13T16:05:18Z</dcterms:created>
  <dcterms:modified xsi:type="dcterms:W3CDTF">2024-12-13T18:12:32Z</dcterms:modified>
</cp:coreProperties>
</file>